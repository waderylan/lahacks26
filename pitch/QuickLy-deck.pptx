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36141b4e-f70f-68e2-4f9d-b554bd77b33b}">
          <p14:sldIdLst>
            <p14:sldId id="256"/>
          </p14:sldIdLst>
        </p14:section>
        <p14:section name="Problem" id="{c498cdf3-57b9-ed64-caed-4ec0272632ca}">
          <p14:sldIdLst>
            <p14:sldId id="257"/>
          </p14:sldIdLst>
        </p14:section>
        <p14:section name="Solution" id="{c3ec52b6-1808-c93e-b7e9-f5da70906370}">
          <p14:sldIdLst>
            <p14:sldId id="258"/>
            <p14:sldId id="259"/>
          </p14:sldIdLst>
        </p14:section>
        <p14:section name="How it works" id="{429913fc-7c56-2fc9-202c-008bc64581bb}">
          <p14:sldIdLst>
            <p14:sldId id="260"/>
            <p14:sldId id="261"/>
          </p14:sldIdLst>
        </p14:section>
        <p14:section name="Demo" id="{e6a1f1b7-5827-67e1-7d22-5d7f4ad36f44}">
          <p14:sldIdLst>
            <p14:sldId id="262"/>
          </p14:sldIdLst>
        </p14:section>
        <p14:section name="Evaluation" id="{c732ef56-0108-06bc-d3e5-12a3885aa271}">
          <p14:sldIdLst>
            <p14:sldId id="263"/>
            <p14:sldId id="264"/>
          </p14:sldIdLst>
        </p14:section>
        <p14:section name="Trust" id="{6d88c80c-c465-bec0-b73b-2fd13234fda0}">
          <p14:sldIdLst>
            <p14:sldId id="265"/>
          </p14:sldIdLst>
        </p14:section>
        <p14:section name="Next" id="{63fe68cf-de02-de89-1a6e-c829d48b1dab}">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3B2A"/>
                </a:solidFill>
                <a:latin typeface="+mn-lt"/>
              </a:defRPr>
            </a:pPr>
            <a:r>
              <a:rPr sz="1300" b="0" i="0" u="none" strike="noStrike">
                <a:solidFill>
                  <a:srgbClr val="0F3B2A"/>
                </a:solidFill>
                <a:latin typeface="+mn-lt"/>
              </a:rPr>
              <a:t>Exact accuracy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8E9A94"/>
            </a:solidFill>
            <a:effectLst/>
          </c:spPr>
          <c:invertIfNegative val="0"/>
          <c:dLbls>
            <c:numFmt formatCode="0.0&quot;%&quot;" sourceLinked="0"/>
            <c:txPr>
              <a:bodyPr/>
              <a:lstStyle/>
              <a:p>
                <a:pPr>
                  <a:defRPr b="0" i="0" strike="noStrike" sz="1200" u="none">
                    <a:solidFill>
                      <a:srgbClr val="17241D"/>
                    </a:solidFill>
                    <a:latin typeface="+mn-lt"/>
                  </a:defRPr>
                </a:pPr>
              </a:p>
            </c:txPr>
            <c:showLegendKey val="0"/>
            <c:showVal val="1"/>
            <c:showCatName val="0"/>
            <c:showSerName val="0"/>
            <c:showPercent val="0"/>
            <c:showBubbleSize val="0"/>
            <c:showLeaderLines val="0"/>
          </c:dLbls>
          <c:dPt>
            <c:idx val="0"/>
            <c:invertIfNegative val="0"/>
            <c:bubble3D val="0"/>
            <c:spPr>
              <a:solidFill>
                <a:srgbClr val="8E9A94"/>
              </a:solidFill>
              <a:effectLst/>
            </c:spPr>
          </c:dPt>
          <c:dPt>
            <c:idx val="1"/>
            <c:invertIfNegative val="0"/>
            <c:bubble3D val="0"/>
            <c:spPr>
              <a:solidFill>
                <a:srgbClr val="8E9A94"/>
              </a:solidFill>
              <a:effectLst/>
            </c:spPr>
          </c:dPt>
          <c:dPt>
            <c:idx val="2"/>
            <c:invertIfNegative val="0"/>
            <c:bubble3D val="0"/>
            <c:spPr>
              <a:solidFill>
                <a:srgbClr val="8E9A94"/>
              </a:solidFill>
              <a:effectLst/>
            </c:spPr>
          </c:dPt>
          <c:dPt>
            <c:idx val="3"/>
            <c:invertIfNegative val="0"/>
            <c:bubble3D val="0"/>
            <c:spPr>
              <a:solidFill>
                <a:srgbClr val="5B8C74"/>
              </a:solidFill>
              <a:effectLst/>
            </c:spPr>
          </c:dPt>
          <c:dPt>
            <c:idx val="4"/>
            <c:invertIfNegative val="0"/>
            <c:bubble3D val="0"/>
            <c:spPr>
              <a:solidFill>
                <a:srgbClr val="1F7A4D"/>
              </a:solidFill>
              <a:effectLst/>
            </c:spPr>
          </c:dPt>
          <c:cat>
            <c:multiLvlStrRef>
              <c:f>Sheet1!$A$2:$A$6</c:f>
              <c:multiLvlStrCache>
                <c:ptCount val="5"/>
                <c:lvl>
                  <c:pt idx="0">
                    <c:v>Qwen3-0.6B (fine-tuned)</c:v>
                  </c:pt>
                  <c:pt idx="1">
                    <c:v>Qwen3-1.7B (fine-tuned)</c:v>
                  </c:pt>
                  <c:pt idx="2">
                    <c:v>Keyword rules</c:v>
                  </c:pt>
                  <c:pt idx="3">
                    <c:v>Gemini 3.5 Flash-Lite</c:v>
                  </c:pt>
                  <c:pt idx="4">
                    <c:v>Jev</c:v>
                  </c:pt>
                </c:lvl>
              </c:multiLvlStrCache>
            </c:multiLvlStrRef>
          </c:cat>
          <c:val>
            <c:numRef>
              <c:f>Sheet1!$B$2:$B$6</c:f>
              <c:numCache>
                <c:formatCode>General</c:formatCode>
                <c:ptCount val="5"/>
                <c:pt idx="0">
                  <c:v>66.2</c:v>
                </c:pt>
                <c:pt idx="1">
                  <c:v>67.6</c:v>
                </c:pt>
                <c:pt idx="2">
                  <c:v>76.2</c:v>
                </c:pt>
                <c:pt idx="3">
                  <c:v>87.8</c:v>
                </c:pt>
                <c:pt idx="4">
                  <c:v>90.5</c:v>
                </c:pt>
              </c:numCache>
            </c:numRef>
          </c:val>
        </c:ser>
        <c:dLbls>
          <c:numFmt formatCode="0.0&quot;%&quot;" sourceLinked="0"/>
          <c:txPr>
            <a:bodyPr/>
            <a:lstStyle/>
            <a:p>
              <a:pPr>
                <a:defRPr b="0" i="0" strike="noStrike" sz="1200" u="none">
                  <a:solidFill>
                    <a:srgbClr val="17241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7241D"/>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built QuickLy. It lets a business owner ask their books anything in plain English and get an exact answer in seconds, because an AI judge reads every single bill and plain code does the math.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answering a simple question about spending means filtering a spreadsheet by hand. Keyword rules are brittle, and a general chatbot reads a few bills at a time, gets slower and pricier as the books grow, and can make up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One models like Jev are fast, cheap classifiers. That changes what is possible: instead of reading a few bills, we read every bill on every question. 416 bills in about seven seconds for under a cent. Jev picks the bills; plain code adds them up, so numbers are never made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everything in one place. The chat is on every tab and takes voice. The Dashboard turns questions into charts. Explore and Rules let you search and automate in plain English, and every answer can turn into a task or message, with Jev choosing who should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by step: you ask, typed or by voice. Jev first reads the question as multiple choice: what kind of answer, what topic, what time period. Then it judges every bill independently. Finally plain code adds up exactly the bills it selected, draws the chart, and offers actions. Users can pick Jev or Gemini for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Jev, we fine-tuned our own model: Qwen3-1.7B, trained on Veri with 14,400 accounting examples to judge a transaction against a plain-English condition as match, no match or uncertain. It is deployed on Veri and you can pick it next to Jev in Explore and Rules. We also built a feedback loop: users correct predictions, review and export them, and can upload a dataset that combines the original training data with their corrections. Uploading and retraining each need a separate confirmation, and a new model never automatically replaces the one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we ask four questions. Notice the subcontractor total matches a direct count of the data to the cent, and that Jev finds a vendor named like a florist that actually sells electronics, something a name search would miss. Graph questions jump straight to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us to prove the advantage, so we built a labelled test: 370 cases, 150 written by hand and 220 generated with known answers on companies no model trained on. Every model got the same bills and instructions. Jev scored 90.5 percent, ahead of Gemini Flash-Lite, keyword rules, and two small models our team fine-tuned.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only half the story. Jev answers a batch of twenty bills in about 0.6 seconds versus 5.8 for Gemini Flash-Lite, a whole company in seven seconds, and the entire benchmark cost under a cent. It also gives a calibrated confidence for every bill, which Gemini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money, we designed for trust. Numbers come from code, not the model. Uncertain bills are reported separately. If a model call fails we say so instead of claiming nothing matched. Every change is previewed and undoable, the AI key is used only for Jev, and synthetic data is clearly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upfront: our test answers were written by the team, Gemini Flash could not finish on a free key, and the data is synthetic. Next we want to sort spending by what it really is and flag miscoded bills, which we have prototyped, explain spikes in charts, and connect to live QuickBooks.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QuickLy: ask your books anything, and get an exact answer, a chart, or an action in seconds.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640080" y="2514600"/>
            <a:ext cx="7863840" cy="5486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
        <p:nvSpPr>
          <p:cNvPr id="4" name="Text 0"/>
          <p:cNvSpPr/>
          <p:nvPr>
            <p:ph idx="102" type="body" hasCustomPrompt="1"/>
          </p:nvPr>
        </p:nvSpPr>
        <p:spPr>
          <a:xfrm>
            <a:off x="640080" y="3977640"/>
            <a:ext cx="7863840" cy="640080"/>
          </a:xfrm>
          <a:prstGeom prst="rect">
            <a:avLst/>
          </a:prstGeom>
          <a:noFill/>
          <a:ln/>
        </p:spPr>
        <p:txBody>
          <a:bodyPr wrap="square" rtlCol="0"/>
          <a:lstStyle>
            <a:lvl1pPr indent="0" marL="0">
              <a:buNone/>
              <a:defRPr lang="en-US" sz="1300" dirty="0">
                <a:solidFill>
                  <a:schemeClr val="accent5"/>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457200" y="4773168"/>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QuickLy · LA Hacks 2026</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005840"/>
          </a:xfrm>
          <a:prstGeom prst="rect">
            <a:avLst/>
          </a:prstGeom>
          <a:noFill/>
          <a:ln/>
        </p:spPr>
        <p:txBody>
          <a:bodyPr wrap="square" lIns="0" tIns="0" rIns="0" bIns="0" rtlCol="0" anchor="b"/>
          <a:lstStyle/>
          <a:p>
            <a:pPr algn="l" indent="0" marL="0">
              <a:buNone/>
            </a:pPr>
            <a:r>
              <a:rPr lang="en-US" sz="5400" b="1" dirty="0">
                <a:solidFill>
                  <a:schemeClr val="bg1"/>
                </a:solidFill>
              </a:rPr>
              <a:t>QuickLy</a:t>
            </a:r>
            <a:endParaRPr lang="en-US" sz="5400" dirty="0"/>
          </a:p>
        </p:txBody>
      </p:sp>
      <p:sp>
        <p:nvSpPr>
          <p:cNvPr id="3" name="Text 0"/>
          <p:cNvSpPr/>
          <p:nvPr>
            <p:ph idx="101" type="body" hasCustomPrompt="1"/>
          </p:nvPr>
        </p:nvSpPr>
        <p:spPr>
          <a:xfrm>
            <a:off x="640080" y="2514600"/>
            <a:ext cx="7863840" cy="548640"/>
          </a:xfrm>
          <a:prstGeom prst="rect">
            <a:avLst/>
          </a:prstGeom>
          <a:noFill/>
          <a:ln/>
        </p:spPr>
        <p:txBody>
          <a:bodyPr wrap="square" lIns="0" tIns="0" rIns="0" bIns="0" rtlCol="0"/>
          <a:lstStyle/>
          <a:p>
            <a:pPr indent="0" marL="0">
              <a:buNone/>
            </a:pPr>
            <a:r>
              <a:rPr lang="en-US" sz="2200" dirty="0">
                <a:solidFill>
                  <a:schemeClr val="bg2"/>
                </a:solidFill>
              </a:rPr>
              <a:t>Ask your books. Every bill read, every number exact.</a:t>
            </a:r>
            <a:endParaRPr lang="en-US" sz="2200" dirty="0"/>
          </a:p>
        </p:txBody>
      </p:sp>
      <p:sp>
        <p:nvSpPr>
          <p:cNvPr id="4" name="Text 0"/>
          <p:cNvSpPr/>
          <p:nvPr>
            <p:ph idx="102" type="body" hasCustomPrompt="1"/>
          </p:nvPr>
        </p:nvSpPr>
        <p:spPr>
          <a:xfrm>
            <a:off x="640080" y="3977640"/>
            <a:ext cx="7863840" cy="640080"/>
          </a:xfrm>
          <a:prstGeom prst="rect">
            <a:avLst/>
          </a:prstGeom>
          <a:noFill/>
          <a:ln/>
        </p:spPr>
        <p:txBody>
          <a:bodyPr wrap="square" lIns="0" tIns="0" rIns="0" bIns="0" rtlCol="0" anchor="t"/>
          <a:lstStyle/>
          <a:p>
            <a:pPr indent="0" marL="0">
              <a:buNone/>
            </a:pPr>
            <a:r>
              <a:rPr lang="en-US" sz="1300" dirty="0">
                <a:solidFill>
                  <a:schemeClr val="accent5"/>
                </a:solidFill>
              </a:rPr>
              <a:t>LA Hacks 2026 · QuickBooks: Reimagining Accounting with System One Models</a:t>
            </a:r>
            <a:endParaRPr lang="en-US" sz="1300" dirty="0"/>
          </a:p>
          <a:p>
            <a:pPr indent="0" marL="0">
              <a:buNone/>
            </a:pPr>
            <a:r>
              <a:rPr lang="en-US" sz="1300" dirty="0">
                <a:solidFill>
                  <a:schemeClr val="accent5"/>
                </a:solidFill>
              </a:rPr>
              <a:t>Team: add your names here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Bookkeeping questions still mean hours of filtering</a:t>
            </a:r>
            <a:endParaRPr lang="en-US" sz="3000" dirty="0"/>
          </a:p>
        </p:txBody>
      </p:sp>
      <p:sp>
        <p:nvSpPr>
          <p:cNvPr id="3" name="Shape 1"/>
          <p:cNvSpPr/>
          <p:nvPr/>
        </p:nvSpPr>
        <p:spPr>
          <a:xfrm>
            <a:off x="457200" y="1234440"/>
            <a:ext cx="2596896" cy="2697480"/>
          </a:xfrm>
          <a:prstGeom prst="roundRect">
            <a:avLst>
              <a:gd name="adj" fmla="val 2817"/>
            </a:avLst>
          </a:prstGeom>
          <a:solidFill>
            <a:schemeClr val="bg2"/>
          </a:solidFill>
          <a:ln w="6350">
            <a:solidFill>
              <a:schemeClr val="bg2"/>
            </a:solidFill>
            <a:prstDash val="solid"/>
          </a:ln>
        </p:spPr>
      </p:sp>
      <p:sp>
        <p:nvSpPr>
          <p:cNvPr id="4" name="Shape 2"/>
          <p:cNvSpPr/>
          <p:nvPr/>
        </p:nvSpPr>
        <p:spPr>
          <a:xfrm>
            <a:off x="731520" y="1463040"/>
            <a:ext cx="566928" cy="566928"/>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67583" y="1599103"/>
            <a:ext cx="294803" cy="294803"/>
          </a:xfrm>
          <a:prstGeom prst="rect">
            <a:avLst/>
          </a:prstGeom>
        </p:spPr>
      </p:pic>
      <p:sp>
        <p:nvSpPr>
          <p:cNvPr id="6" name="Text 3"/>
          <p:cNvSpPr txBox="1"/>
          <p:nvPr/>
        </p:nvSpPr>
        <p:spPr>
          <a:xfrm>
            <a:off x="731520" y="2194560"/>
            <a:ext cx="2103120" cy="548640"/>
          </a:xfrm>
          <a:prstGeom prst="rect">
            <a:avLst/>
          </a:prstGeom>
          <a:noFill/>
          <a:ln/>
        </p:spPr>
        <p:txBody>
          <a:bodyPr wrap="square" lIns="0" tIns="0" rIns="0" bIns="0" rtlCol="0" anchor="t"/>
          <a:lstStyle/>
          <a:p>
            <a:pPr indent="0" marL="0">
              <a:buNone/>
            </a:pPr>
            <a:r>
              <a:rPr lang="en-US" sz="1700" b="1" dirty="0">
                <a:solidFill>
                  <a:schemeClr val="tx2"/>
                </a:solidFill>
              </a:rPr>
              <a:t>Searching by meaning is manual</a:t>
            </a:r>
            <a:endParaRPr lang="en-US" sz="1700" dirty="0"/>
          </a:p>
        </p:txBody>
      </p:sp>
      <p:sp>
        <p:nvSpPr>
          <p:cNvPr id="7" name="Text 4"/>
          <p:cNvSpPr txBox="1"/>
          <p:nvPr/>
        </p:nvSpPr>
        <p:spPr>
          <a:xfrm>
            <a:off x="731520" y="2788920"/>
            <a:ext cx="2103120" cy="1051560"/>
          </a:xfrm>
          <a:prstGeom prst="rect">
            <a:avLst/>
          </a:prstGeom>
          <a:noFill/>
          <a:ln/>
        </p:spPr>
        <p:txBody>
          <a:bodyPr wrap="square" lIns="0" tIns="0" rIns="0" bIns="0" rtlCol="0" anchor="t"/>
          <a:lstStyle/>
          <a:p>
            <a:pPr indent="0" marL="0">
              <a:buNone/>
            </a:pPr>
            <a:r>
              <a:rPr lang="en-US" sz="1300" dirty="0">
                <a:solidFill>
                  <a:schemeClr val="tx1"/>
                </a:solidFill>
              </a:rPr>
              <a:t>“How much went to contractors in Q2?” means scrolling hundreds of bills line by line.</a:t>
            </a:r>
            <a:endParaRPr lang="en-US" sz="1300" dirty="0"/>
          </a:p>
        </p:txBody>
      </p:sp>
      <p:sp>
        <p:nvSpPr>
          <p:cNvPr id="8" name="Shape 5"/>
          <p:cNvSpPr/>
          <p:nvPr/>
        </p:nvSpPr>
        <p:spPr>
          <a:xfrm>
            <a:off x="3273552" y="1234440"/>
            <a:ext cx="2596896" cy="2697480"/>
          </a:xfrm>
          <a:prstGeom prst="roundRect">
            <a:avLst>
              <a:gd name="adj" fmla="val 2817"/>
            </a:avLst>
          </a:prstGeom>
          <a:solidFill>
            <a:schemeClr val="bg2"/>
          </a:solidFill>
          <a:ln w="6350">
            <a:solidFill>
              <a:schemeClr val="bg2"/>
            </a:solidFill>
            <a:prstDash val="solid"/>
          </a:ln>
        </p:spPr>
      </p:sp>
      <p:sp>
        <p:nvSpPr>
          <p:cNvPr id="9" name="Shape 6"/>
          <p:cNvSpPr/>
          <p:nvPr/>
        </p:nvSpPr>
        <p:spPr>
          <a:xfrm>
            <a:off x="3547872" y="1463040"/>
            <a:ext cx="566928" cy="566928"/>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83935" y="1599103"/>
            <a:ext cx="294803" cy="294803"/>
          </a:xfrm>
          <a:prstGeom prst="rect">
            <a:avLst/>
          </a:prstGeom>
        </p:spPr>
      </p:pic>
      <p:sp>
        <p:nvSpPr>
          <p:cNvPr id="11" name="Text 7"/>
          <p:cNvSpPr txBox="1"/>
          <p:nvPr/>
        </p:nvSpPr>
        <p:spPr>
          <a:xfrm>
            <a:off x="3547872" y="2194560"/>
            <a:ext cx="2103120" cy="548640"/>
          </a:xfrm>
          <a:prstGeom prst="rect">
            <a:avLst/>
          </a:prstGeom>
          <a:noFill/>
          <a:ln/>
        </p:spPr>
        <p:txBody>
          <a:bodyPr wrap="square" lIns="0" tIns="0" rIns="0" bIns="0" rtlCol="0" anchor="t"/>
          <a:lstStyle/>
          <a:p>
            <a:pPr indent="0" marL="0">
              <a:buNone/>
            </a:pPr>
            <a:r>
              <a:rPr lang="en-US" sz="1700" b="1" dirty="0">
                <a:solidFill>
                  <a:schemeClr val="tx2"/>
                </a:solidFill>
              </a:rPr>
              <a:t>Keyword rules miss meaning</a:t>
            </a:r>
            <a:endParaRPr lang="en-US" sz="1700" dirty="0"/>
          </a:p>
        </p:txBody>
      </p:sp>
      <p:sp>
        <p:nvSpPr>
          <p:cNvPr id="12" name="Text 8"/>
          <p:cNvSpPr txBox="1"/>
          <p:nvPr/>
        </p:nvSpPr>
        <p:spPr>
          <a:xfrm>
            <a:off x="3547872" y="2788920"/>
            <a:ext cx="2103120" cy="1051560"/>
          </a:xfrm>
          <a:prstGeom prst="rect">
            <a:avLst/>
          </a:prstGeom>
          <a:noFill/>
          <a:ln/>
        </p:spPr>
        <p:txBody>
          <a:bodyPr wrap="square" lIns="0" tIns="0" rIns="0" bIns="0" rtlCol="0" anchor="t"/>
          <a:lstStyle/>
          <a:p>
            <a:pPr indent="0" marL="0">
              <a:buNone/>
            </a:pPr>
            <a:r>
              <a:rPr lang="en-US" sz="1300" dirty="0">
                <a:solidFill>
                  <a:schemeClr val="tx1"/>
                </a:solidFill>
              </a:rPr>
              <a:t>A “florist” billing $1.6M of electronics, or a memo that contradicts its bill: words alone don’t catch it.</a:t>
            </a:r>
            <a:endParaRPr lang="en-US" sz="1300" dirty="0"/>
          </a:p>
        </p:txBody>
      </p:sp>
      <p:sp>
        <p:nvSpPr>
          <p:cNvPr id="13" name="Shape 9"/>
          <p:cNvSpPr/>
          <p:nvPr/>
        </p:nvSpPr>
        <p:spPr>
          <a:xfrm>
            <a:off x="6089904" y="1234440"/>
            <a:ext cx="2596896" cy="2697480"/>
          </a:xfrm>
          <a:prstGeom prst="roundRect">
            <a:avLst>
              <a:gd name="adj" fmla="val 2817"/>
            </a:avLst>
          </a:prstGeom>
          <a:solidFill>
            <a:schemeClr val="bg2"/>
          </a:solidFill>
          <a:ln w="6350">
            <a:solidFill>
              <a:schemeClr val="bg2"/>
            </a:solidFill>
            <a:prstDash val="solid"/>
          </a:ln>
        </p:spPr>
      </p:sp>
      <p:sp>
        <p:nvSpPr>
          <p:cNvPr id="14" name="Shape 10"/>
          <p:cNvSpPr/>
          <p:nvPr/>
        </p:nvSpPr>
        <p:spPr>
          <a:xfrm>
            <a:off x="6364224" y="1463040"/>
            <a:ext cx="566928" cy="566928"/>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500287" y="1599103"/>
            <a:ext cx="294803" cy="294803"/>
          </a:xfrm>
          <a:prstGeom prst="rect">
            <a:avLst/>
          </a:prstGeom>
        </p:spPr>
      </p:pic>
      <p:sp>
        <p:nvSpPr>
          <p:cNvPr id="16" name="Text 11"/>
          <p:cNvSpPr txBox="1"/>
          <p:nvPr/>
        </p:nvSpPr>
        <p:spPr>
          <a:xfrm>
            <a:off x="6364224" y="2194560"/>
            <a:ext cx="2103120" cy="548640"/>
          </a:xfrm>
          <a:prstGeom prst="rect">
            <a:avLst/>
          </a:prstGeom>
          <a:noFill/>
          <a:ln/>
        </p:spPr>
        <p:txBody>
          <a:bodyPr wrap="square" lIns="0" tIns="0" rIns="0" bIns="0" rtlCol="0" anchor="t"/>
          <a:lstStyle/>
          <a:p>
            <a:pPr indent="0" marL="0">
              <a:buNone/>
            </a:pPr>
            <a:r>
              <a:rPr lang="en-US" sz="1700" b="1" dirty="0">
                <a:solidFill>
                  <a:schemeClr val="tx2"/>
                </a:solidFill>
              </a:rPr>
              <a:t>Chatbots guess the numbers</a:t>
            </a:r>
            <a:endParaRPr lang="en-US" sz="1700" dirty="0"/>
          </a:p>
        </p:txBody>
      </p:sp>
      <p:sp>
        <p:nvSpPr>
          <p:cNvPr id="17" name="Text 12"/>
          <p:cNvSpPr txBox="1"/>
          <p:nvPr/>
        </p:nvSpPr>
        <p:spPr>
          <a:xfrm>
            <a:off x="6364224" y="2788920"/>
            <a:ext cx="2103120" cy="1051560"/>
          </a:xfrm>
          <a:prstGeom prst="rect">
            <a:avLst/>
          </a:prstGeom>
          <a:noFill/>
          <a:ln/>
        </p:spPr>
        <p:txBody>
          <a:bodyPr wrap="square" lIns="0" tIns="0" rIns="0" bIns="0" rtlCol="0" anchor="t"/>
          <a:lstStyle/>
          <a:p>
            <a:pPr indent="0" marL="0">
              <a:buNone/>
            </a:pPr>
            <a:r>
              <a:rPr lang="en-US" sz="1300" dirty="0">
                <a:solidFill>
                  <a:schemeClr val="tx1"/>
                </a:solidFill>
              </a:rPr>
              <a:t>General LLMs read a handful of bills at a time, slow down as books grow, and can invent totals.</a:t>
            </a:r>
            <a:endParaRPr lang="en-US" sz="1300" dirty="0"/>
          </a:p>
        </p:txBody>
      </p:sp>
      <p:sp>
        <p:nvSpPr>
          <p:cNvPr id="18" name="Text 13"/>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i="1" dirty="0">
                <a:solidFill>
                  <a:schemeClr val="accent1"/>
                </a:solidFill>
              </a:rPr>
              <a:t>Owners need answers they can trust, about every bill, in seconds.</a:t>
            </a:r>
            <a:endParaRPr lang="en-US" sz="16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The System One unlock: read every bill, every time</a:t>
            </a:r>
            <a:endParaRPr lang="en-US" sz="3000" dirty="0"/>
          </a:p>
        </p:txBody>
      </p:sp>
      <p:sp>
        <p:nvSpPr>
          <p:cNvPr id="3" name="Shape 1"/>
          <p:cNvSpPr/>
          <p:nvPr/>
        </p:nvSpPr>
        <p:spPr>
          <a:xfrm>
            <a:off x="457200" y="1234440"/>
            <a:ext cx="3291840" cy="3246120"/>
          </a:xfrm>
          <a:prstGeom prst="roundRect">
            <a:avLst>
              <a:gd name="adj" fmla="val 2254"/>
            </a:avLst>
          </a:prstGeom>
          <a:solidFill>
            <a:schemeClr val="tx2"/>
          </a:solidFill>
          <a:ln w="6350">
            <a:solidFill>
              <a:schemeClr val="tx2"/>
            </a:solidFill>
            <a:prstDash val="solid"/>
          </a:ln>
        </p:spPr>
      </p:sp>
      <p:sp>
        <p:nvSpPr>
          <p:cNvPr id="4" name="Text 2"/>
          <p:cNvSpPr txBox="1"/>
          <p:nvPr/>
        </p:nvSpPr>
        <p:spPr>
          <a:xfrm>
            <a:off x="731520" y="1463040"/>
            <a:ext cx="2743200" cy="1005840"/>
          </a:xfrm>
          <a:prstGeom prst="rect">
            <a:avLst/>
          </a:prstGeom>
          <a:noFill/>
          <a:ln/>
        </p:spPr>
        <p:txBody>
          <a:bodyPr wrap="square" lIns="0" tIns="0" rIns="0" bIns="0" rtlCol="0" anchor="t"/>
          <a:lstStyle/>
          <a:p>
            <a:pPr indent="0" marL="0">
              <a:buNone/>
            </a:pPr>
            <a:r>
              <a:rPr lang="en-US" sz="7200" b="1" dirty="0">
                <a:solidFill>
                  <a:schemeClr val="bg1"/>
                </a:solidFill>
              </a:rPr>
              <a:t>416</a:t>
            </a:r>
            <a:endParaRPr lang="en-US" sz="7200" dirty="0"/>
          </a:p>
        </p:txBody>
      </p:sp>
      <p:sp>
        <p:nvSpPr>
          <p:cNvPr id="5" name="Text 3"/>
          <p:cNvSpPr txBox="1"/>
          <p:nvPr/>
        </p:nvSpPr>
        <p:spPr>
          <a:xfrm>
            <a:off x="731520" y="2468880"/>
            <a:ext cx="2743200" cy="365760"/>
          </a:xfrm>
          <a:prstGeom prst="rect">
            <a:avLst/>
          </a:prstGeom>
          <a:noFill/>
          <a:ln/>
        </p:spPr>
        <p:txBody>
          <a:bodyPr wrap="square" lIns="0" tIns="0" rIns="0" bIns="0" rtlCol="0" anchor="t"/>
          <a:lstStyle/>
          <a:p>
            <a:pPr indent="0" marL="0">
              <a:buNone/>
            </a:pPr>
            <a:r>
              <a:rPr lang="en-US" sz="2000" dirty="0">
                <a:solidFill>
                  <a:schemeClr val="bg2"/>
                </a:solidFill>
              </a:rPr>
              <a:t>bills judged</a:t>
            </a:r>
            <a:endParaRPr lang="en-US" sz="2000" dirty="0"/>
          </a:p>
        </p:txBody>
      </p:sp>
      <p:sp>
        <p:nvSpPr>
          <p:cNvPr id="6" name="Text 4"/>
          <p:cNvSpPr txBox="1"/>
          <p:nvPr/>
        </p:nvSpPr>
        <p:spPr>
          <a:xfrm>
            <a:off x="731520" y="2880360"/>
            <a:ext cx="2743200" cy="365760"/>
          </a:xfrm>
          <a:prstGeom prst="rect">
            <a:avLst/>
          </a:prstGeom>
          <a:noFill/>
          <a:ln/>
        </p:spPr>
        <p:txBody>
          <a:bodyPr wrap="square" lIns="0" tIns="0" rIns="0" bIns="0" rtlCol="0" anchor="t"/>
          <a:lstStyle/>
          <a:p>
            <a:pPr indent="0" marL="0">
              <a:buNone/>
            </a:pPr>
            <a:r>
              <a:rPr lang="en-US" sz="2000" b="1" dirty="0">
                <a:solidFill>
                  <a:schemeClr val="accent2"/>
                </a:solidFill>
              </a:rPr>
              <a:t>in 7.1 seconds for $0.0071</a:t>
            </a:r>
            <a:endParaRPr lang="en-US" sz="2000" dirty="0"/>
          </a:p>
        </p:txBody>
      </p:sp>
      <p:sp>
        <p:nvSpPr>
          <p:cNvPr id="7" name="Text 5"/>
          <p:cNvSpPr txBox="1"/>
          <p:nvPr/>
        </p:nvSpPr>
        <p:spPr>
          <a:xfrm>
            <a:off x="731520" y="3429000"/>
            <a:ext cx="2743200" cy="822960"/>
          </a:xfrm>
          <a:prstGeom prst="rect">
            <a:avLst/>
          </a:prstGeom>
          <a:noFill/>
          <a:ln/>
        </p:spPr>
        <p:txBody>
          <a:bodyPr wrap="square" lIns="0" tIns="0" rIns="0" bIns="0" rtlCol="0" anchor="t"/>
          <a:lstStyle/>
          <a:p>
            <a:pPr indent="0" marL="0">
              <a:buNone/>
            </a:pPr>
            <a:r>
              <a:rPr lang="en-US" sz="1300" dirty="0">
                <a:solidFill>
                  <a:schemeClr val="bg2"/>
                </a:solidFill>
              </a:rPr>
              <a:t>A whole company, every time you ask, with Jev on the AI Gateway</a:t>
            </a:r>
            <a:endParaRPr lang="en-US" sz="1300" dirty="0"/>
          </a:p>
        </p:txBody>
      </p:sp>
      <p:sp>
        <p:nvSpPr>
          <p:cNvPr id="8" name="Shape 6"/>
          <p:cNvSpPr/>
          <p:nvPr/>
        </p:nvSpPr>
        <p:spPr>
          <a:xfrm>
            <a:off x="4114800" y="1280160"/>
            <a:ext cx="548640" cy="54864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4246474" y="1411834"/>
            <a:ext cx="285293" cy="285293"/>
          </a:xfrm>
          <a:prstGeom prst="rect">
            <a:avLst/>
          </a:prstGeom>
        </p:spPr>
      </p:pic>
      <p:sp>
        <p:nvSpPr>
          <p:cNvPr id="10" name="Text 7"/>
          <p:cNvSpPr txBox="1"/>
          <p:nvPr/>
        </p:nvSpPr>
        <p:spPr>
          <a:xfrm>
            <a:off x="4846320" y="1261872"/>
            <a:ext cx="3840480" cy="365760"/>
          </a:xfrm>
          <a:prstGeom prst="rect">
            <a:avLst/>
          </a:prstGeom>
          <a:noFill/>
          <a:ln/>
        </p:spPr>
        <p:txBody>
          <a:bodyPr wrap="square" lIns="0" tIns="0" rIns="0" bIns="0" rtlCol="0" anchor="t"/>
          <a:lstStyle/>
          <a:p>
            <a:pPr indent="0" marL="0">
              <a:buNone/>
            </a:pPr>
            <a:r>
              <a:rPr lang="en-US" sz="1700" b="1" dirty="0">
                <a:solidFill>
                  <a:schemeClr val="tx2"/>
                </a:solidFill>
              </a:rPr>
              <a:t>One judgment per bill, in parallel</a:t>
            </a:r>
            <a:endParaRPr lang="en-US" sz="1700" dirty="0"/>
          </a:p>
        </p:txBody>
      </p:sp>
      <p:sp>
        <p:nvSpPr>
          <p:cNvPr id="11" name="Text 8"/>
          <p:cNvSpPr txBox="1"/>
          <p:nvPr/>
        </p:nvSpPr>
        <p:spPr>
          <a:xfrm>
            <a:off x="4846320" y="1645920"/>
            <a:ext cx="3840480" cy="548640"/>
          </a:xfrm>
          <a:prstGeom prst="rect">
            <a:avLst/>
          </a:prstGeom>
          <a:noFill/>
          <a:ln/>
        </p:spPr>
        <p:txBody>
          <a:bodyPr wrap="square" lIns="0" tIns="0" rIns="0" bIns="0" rtlCol="0" anchor="t"/>
          <a:lstStyle/>
          <a:p>
            <a:pPr indent="0" marL="0">
              <a:buNone/>
            </a:pPr>
            <a:r>
              <a:rPr lang="en-US" sz="1300" dirty="0">
                <a:solidFill>
                  <a:schemeClr val="tx1"/>
                </a:solidFill>
              </a:rPr>
              <a:t>Jev answers match, no match or uncertain for each bill on its own.</a:t>
            </a:r>
            <a:endParaRPr lang="en-US" sz="1300" dirty="0"/>
          </a:p>
        </p:txBody>
      </p:sp>
      <p:sp>
        <p:nvSpPr>
          <p:cNvPr id="12" name="Shape 9"/>
          <p:cNvSpPr/>
          <p:nvPr/>
        </p:nvSpPr>
        <p:spPr>
          <a:xfrm>
            <a:off x="4114800" y="2359152"/>
            <a:ext cx="548640" cy="54864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4246474" y="2490826"/>
            <a:ext cx="285293" cy="285293"/>
          </a:xfrm>
          <a:prstGeom prst="rect">
            <a:avLst/>
          </a:prstGeom>
        </p:spPr>
      </p:pic>
      <p:sp>
        <p:nvSpPr>
          <p:cNvPr id="14" name="Text 10"/>
          <p:cNvSpPr txBox="1"/>
          <p:nvPr/>
        </p:nvSpPr>
        <p:spPr>
          <a:xfrm>
            <a:off x="4846320" y="2340864"/>
            <a:ext cx="3840480" cy="365760"/>
          </a:xfrm>
          <a:prstGeom prst="rect">
            <a:avLst/>
          </a:prstGeom>
          <a:noFill/>
          <a:ln/>
        </p:spPr>
        <p:txBody>
          <a:bodyPr wrap="square" lIns="0" tIns="0" rIns="0" bIns="0" rtlCol="0" anchor="t"/>
          <a:lstStyle/>
          <a:p>
            <a:pPr indent="0" marL="0">
              <a:buNone/>
            </a:pPr>
            <a:r>
              <a:rPr lang="en-US" sz="1700" b="1" dirty="0">
                <a:solidFill>
                  <a:schemeClr val="tx2"/>
                </a:solidFill>
              </a:rPr>
              <a:t>A confidence score on every answer</a:t>
            </a:r>
            <a:endParaRPr lang="en-US" sz="1700" dirty="0"/>
          </a:p>
        </p:txBody>
      </p:sp>
      <p:sp>
        <p:nvSpPr>
          <p:cNvPr id="15" name="Text 11"/>
          <p:cNvSpPr txBox="1"/>
          <p:nvPr/>
        </p:nvSpPr>
        <p:spPr>
          <a:xfrm>
            <a:off x="4846320" y="2724912"/>
            <a:ext cx="3840480" cy="548640"/>
          </a:xfrm>
          <a:prstGeom prst="rect">
            <a:avLst/>
          </a:prstGeom>
          <a:noFill/>
          <a:ln/>
        </p:spPr>
        <p:txBody>
          <a:bodyPr wrap="square" lIns="0" tIns="0" rIns="0" bIns="0" rtlCol="0" anchor="t"/>
          <a:lstStyle/>
          <a:p>
            <a:pPr indent="0" marL="0">
              <a:buNone/>
            </a:pPr>
            <a:r>
              <a:rPr lang="en-US" sz="1300" dirty="0">
                <a:solidFill>
                  <a:schemeClr val="tx1"/>
                </a:solidFill>
              </a:rPr>
              <a:t>Unclear bills are shown separately instead of silently counted.</a:t>
            </a:r>
            <a:endParaRPr lang="en-US" sz="1300" dirty="0"/>
          </a:p>
        </p:txBody>
      </p:sp>
      <p:sp>
        <p:nvSpPr>
          <p:cNvPr id="16" name="Shape 12"/>
          <p:cNvSpPr/>
          <p:nvPr/>
        </p:nvSpPr>
        <p:spPr>
          <a:xfrm>
            <a:off x="4114800" y="3438144"/>
            <a:ext cx="548640" cy="54864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4246474" y="3569818"/>
            <a:ext cx="285293" cy="285293"/>
          </a:xfrm>
          <a:prstGeom prst="rect">
            <a:avLst/>
          </a:prstGeom>
        </p:spPr>
      </p:pic>
      <p:sp>
        <p:nvSpPr>
          <p:cNvPr id="18" name="Text 13"/>
          <p:cNvSpPr txBox="1"/>
          <p:nvPr/>
        </p:nvSpPr>
        <p:spPr>
          <a:xfrm>
            <a:off x="4846320" y="3419856"/>
            <a:ext cx="3840480" cy="365760"/>
          </a:xfrm>
          <a:prstGeom prst="rect">
            <a:avLst/>
          </a:prstGeom>
          <a:noFill/>
          <a:ln/>
        </p:spPr>
        <p:txBody>
          <a:bodyPr wrap="square" lIns="0" tIns="0" rIns="0" bIns="0" rtlCol="0" anchor="t"/>
          <a:lstStyle/>
          <a:p>
            <a:pPr indent="0" marL="0">
              <a:buNone/>
            </a:pPr>
            <a:r>
              <a:rPr lang="en-US" sz="1700" b="1" dirty="0">
                <a:solidFill>
                  <a:schemeClr val="tx2"/>
                </a:solidFill>
              </a:rPr>
              <a:t>Code does the math</a:t>
            </a:r>
            <a:endParaRPr lang="en-US" sz="1700" dirty="0"/>
          </a:p>
        </p:txBody>
      </p:sp>
      <p:sp>
        <p:nvSpPr>
          <p:cNvPr id="19" name="Text 14"/>
          <p:cNvSpPr txBox="1"/>
          <p:nvPr/>
        </p:nvSpPr>
        <p:spPr>
          <a:xfrm>
            <a:off x="4846320" y="3803904"/>
            <a:ext cx="3840480" cy="548640"/>
          </a:xfrm>
          <a:prstGeom prst="rect">
            <a:avLst/>
          </a:prstGeom>
          <a:noFill/>
          <a:ln/>
        </p:spPr>
        <p:txBody>
          <a:bodyPr wrap="square" lIns="0" tIns="0" rIns="0" bIns="0" rtlCol="0" anchor="t"/>
          <a:lstStyle/>
          <a:p>
            <a:pPr indent="0" marL="0">
              <a:buNone/>
            </a:pPr>
            <a:r>
              <a:rPr lang="en-US" sz="1300" dirty="0">
                <a:solidFill>
                  <a:schemeClr val="tx1"/>
                </a:solidFill>
              </a:rPr>
              <a:t>Totals are exact sums of the bills Jev picked. No model writes a number.</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One workspace: ask, see, act</a:t>
            </a:r>
            <a:endParaRPr lang="en-US" sz="3000" dirty="0"/>
          </a:p>
        </p:txBody>
      </p:sp>
      <p:sp>
        <p:nvSpPr>
          <p:cNvPr id="3" name="Shape 1"/>
          <p:cNvSpPr/>
          <p:nvPr/>
        </p:nvSpPr>
        <p:spPr>
          <a:xfrm>
            <a:off x="457200" y="1188720"/>
            <a:ext cx="2596896" cy="1508760"/>
          </a:xfrm>
          <a:prstGeom prst="roundRect">
            <a:avLst>
              <a:gd name="adj" fmla="val 4848"/>
            </a:avLst>
          </a:prstGeom>
          <a:solidFill>
            <a:schemeClr val="bg2"/>
          </a:solidFill>
          <a:ln w="6350">
            <a:solidFill>
              <a:schemeClr val="bg2"/>
            </a:solidFill>
            <a:prstDash val="solid"/>
          </a:ln>
        </p:spPr>
      </p:sp>
      <p:sp>
        <p:nvSpPr>
          <p:cNvPr id="4" name="Shape 2"/>
          <p:cNvSpPr/>
          <p:nvPr/>
        </p:nvSpPr>
        <p:spPr>
          <a:xfrm>
            <a:off x="685800" y="141732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06501" y="1538021"/>
            <a:ext cx="261518" cy="261518"/>
          </a:xfrm>
          <a:prstGeom prst="rect">
            <a:avLst/>
          </a:prstGeom>
        </p:spPr>
      </p:pic>
      <p:sp>
        <p:nvSpPr>
          <p:cNvPr id="6" name="Text 3"/>
          <p:cNvSpPr txBox="1"/>
          <p:nvPr/>
        </p:nvSpPr>
        <p:spPr>
          <a:xfrm>
            <a:off x="1325880" y="14630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Ask your books</a:t>
            </a:r>
            <a:endParaRPr lang="en-US" sz="1700" dirty="0"/>
          </a:p>
        </p:txBody>
      </p:sp>
      <p:sp>
        <p:nvSpPr>
          <p:cNvPr id="7" name="Text 4"/>
          <p:cNvSpPr txBox="1"/>
          <p:nvPr/>
        </p:nvSpPr>
        <p:spPr>
          <a:xfrm>
            <a:off x="685800" y="2011680"/>
            <a:ext cx="2194560" cy="594360"/>
          </a:xfrm>
          <a:prstGeom prst="rect">
            <a:avLst/>
          </a:prstGeom>
          <a:noFill/>
          <a:ln/>
        </p:spPr>
        <p:txBody>
          <a:bodyPr wrap="square" lIns="0" tIns="0" rIns="0" bIns="0" rtlCol="0" anchor="t"/>
          <a:lstStyle/>
          <a:p>
            <a:pPr indent="0" marL="0">
              <a:buNone/>
            </a:pPr>
            <a:r>
              <a:rPr lang="en-US" sz="1300" dirty="0">
                <a:solidFill>
                  <a:schemeClr val="tx1"/>
                </a:solidFill>
              </a:rPr>
              <a:t>A chat on every tab. Type or speak your question.</a:t>
            </a:r>
            <a:endParaRPr lang="en-US" sz="1300" dirty="0"/>
          </a:p>
        </p:txBody>
      </p:sp>
      <p:sp>
        <p:nvSpPr>
          <p:cNvPr id="8" name="Shape 5"/>
          <p:cNvSpPr/>
          <p:nvPr/>
        </p:nvSpPr>
        <p:spPr>
          <a:xfrm>
            <a:off x="3273552" y="1188720"/>
            <a:ext cx="2596896" cy="1508760"/>
          </a:xfrm>
          <a:prstGeom prst="roundRect">
            <a:avLst>
              <a:gd name="adj" fmla="val 4848"/>
            </a:avLst>
          </a:prstGeom>
          <a:solidFill>
            <a:schemeClr val="bg2"/>
          </a:solidFill>
          <a:ln w="6350">
            <a:solidFill>
              <a:schemeClr val="bg2"/>
            </a:solidFill>
            <a:prstDash val="solid"/>
          </a:ln>
        </p:spPr>
      </p:sp>
      <p:sp>
        <p:nvSpPr>
          <p:cNvPr id="9" name="Shape 6"/>
          <p:cNvSpPr/>
          <p:nvPr/>
        </p:nvSpPr>
        <p:spPr>
          <a:xfrm>
            <a:off x="3502152" y="141732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622853" y="1538021"/>
            <a:ext cx="261518" cy="261518"/>
          </a:xfrm>
          <a:prstGeom prst="rect">
            <a:avLst/>
          </a:prstGeom>
        </p:spPr>
      </p:pic>
      <p:sp>
        <p:nvSpPr>
          <p:cNvPr id="11" name="Text 7"/>
          <p:cNvSpPr txBox="1"/>
          <p:nvPr/>
        </p:nvSpPr>
        <p:spPr>
          <a:xfrm>
            <a:off x="4142232" y="14630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Dashboard</a:t>
            </a:r>
            <a:endParaRPr lang="en-US" sz="1700" dirty="0"/>
          </a:p>
        </p:txBody>
      </p:sp>
      <p:sp>
        <p:nvSpPr>
          <p:cNvPr id="12" name="Text 8"/>
          <p:cNvSpPr txBox="1"/>
          <p:nvPr/>
        </p:nvSpPr>
        <p:spPr>
          <a:xfrm>
            <a:off x="3502152" y="2011680"/>
            <a:ext cx="2194560" cy="594360"/>
          </a:xfrm>
          <a:prstGeom prst="rect">
            <a:avLst/>
          </a:prstGeom>
          <a:noFill/>
          <a:ln/>
        </p:spPr>
        <p:txBody>
          <a:bodyPr wrap="square" lIns="0" tIns="0" rIns="0" bIns="0" rtlCol="0" anchor="t"/>
          <a:lstStyle/>
          <a:p>
            <a:pPr indent="0" marL="0">
              <a:buNone/>
            </a:pPr>
            <a:r>
              <a:rPr lang="en-US" sz="1300" dirty="0">
                <a:solidFill>
                  <a:schemeClr val="tx1"/>
                </a:solidFill>
              </a:rPr>
              <a:t>Ask for a graph and it appears. Keep it or refresh.</a:t>
            </a:r>
            <a:endParaRPr lang="en-US" sz="1300" dirty="0"/>
          </a:p>
        </p:txBody>
      </p:sp>
      <p:sp>
        <p:nvSpPr>
          <p:cNvPr id="13" name="Shape 9"/>
          <p:cNvSpPr/>
          <p:nvPr/>
        </p:nvSpPr>
        <p:spPr>
          <a:xfrm>
            <a:off x="6089904" y="1188720"/>
            <a:ext cx="2596896" cy="1508760"/>
          </a:xfrm>
          <a:prstGeom prst="roundRect">
            <a:avLst>
              <a:gd name="adj" fmla="val 4848"/>
            </a:avLst>
          </a:prstGeom>
          <a:solidFill>
            <a:schemeClr val="bg2"/>
          </a:solidFill>
          <a:ln w="6350">
            <a:solidFill>
              <a:schemeClr val="bg2"/>
            </a:solidFill>
            <a:prstDash val="solid"/>
          </a:ln>
        </p:spPr>
      </p:sp>
      <p:sp>
        <p:nvSpPr>
          <p:cNvPr id="14" name="Shape 10"/>
          <p:cNvSpPr/>
          <p:nvPr/>
        </p:nvSpPr>
        <p:spPr>
          <a:xfrm>
            <a:off x="6318504" y="1417320"/>
            <a:ext cx="502920" cy="50292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439205" y="1538021"/>
            <a:ext cx="261518" cy="261518"/>
          </a:xfrm>
          <a:prstGeom prst="rect">
            <a:avLst/>
          </a:prstGeom>
        </p:spPr>
      </p:pic>
      <p:sp>
        <p:nvSpPr>
          <p:cNvPr id="16" name="Text 11"/>
          <p:cNvSpPr txBox="1"/>
          <p:nvPr/>
        </p:nvSpPr>
        <p:spPr>
          <a:xfrm>
            <a:off x="6958584" y="1463040"/>
            <a:ext cx="1600200" cy="411480"/>
          </a:xfrm>
          <a:prstGeom prst="rect">
            <a:avLst/>
          </a:prstGeom>
          <a:noFill/>
          <a:ln/>
        </p:spPr>
        <p:txBody>
          <a:bodyPr wrap="square" lIns="0" tIns="0" rIns="0" bIns="0" rtlCol="0" anchor="t"/>
          <a:lstStyle/>
          <a:p>
            <a:pPr indent="0" marL="0">
              <a:buNone/>
            </a:pPr>
            <a:r>
              <a:rPr lang="en-US" sz="1700" b="1" dirty="0">
                <a:solidFill>
                  <a:schemeClr val="tx2"/>
                </a:solidFill>
              </a:rPr>
              <a:t>Explore</a:t>
            </a:r>
            <a:endParaRPr lang="en-US" sz="1700" dirty="0"/>
          </a:p>
        </p:txBody>
      </p:sp>
      <p:sp>
        <p:nvSpPr>
          <p:cNvPr id="17" name="Text 12"/>
          <p:cNvSpPr txBox="1"/>
          <p:nvPr/>
        </p:nvSpPr>
        <p:spPr>
          <a:xfrm>
            <a:off x="6318504" y="2011680"/>
            <a:ext cx="2194560" cy="594360"/>
          </a:xfrm>
          <a:prstGeom prst="rect">
            <a:avLst/>
          </a:prstGeom>
          <a:noFill/>
          <a:ln/>
        </p:spPr>
        <p:txBody>
          <a:bodyPr wrap="square" lIns="0" tIns="0" rIns="0" bIns="0" rtlCol="0" anchor="t"/>
          <a:lstStyle/>
          <a:p>
            <a:pPr indent="0" marL="0">
              <a:buNone/>
            </a:pPr>
            <a:r>
              <a:rPr lang="en-US" sz="1300" dirty="0">
                <a:solidFill>
                  <a:schemeClr val="tx1"/>
                </a:solidFill>
              </a:rPr>
              <a:t>Search by meaning with Jev or our fine-tuned model.</a:t>
            </a:r>
            <a:endParaRPr lang="en-US" sz="1300" dirty="0"/>
          </a:p>
        </p:txBody>
      </p:sp>
      <p:sp>
        <p:nvSpPr>
          <p:cNvPr id="18" name="Shape 13"/>
          <p:cNvSpPr/>
          <p:nvPr/>
        </p:nvSpPr>
        <p:spPr>
          <a:xfrm>
            <a:off x="457200" y="2880360"/>
            <a:ext cx="2596896" cy="1508760"/>
          </a:xfrm>
          <a:prstGeom prst="roundRect">
            <a:avLst>
              <a:gd name="adj" fmla="val 4848"/>
            </a:avLst>
          </a:prstGeom>
          <a:solidFill>
            <a:schemeClr val="bg2"/>
          </a:solidFill>
          <a:ln w="6350">
            <a:solidFill>
              <a:schemeClr val="bg2"/>
            </a:solidFill>
            <a:prstDash val="solid"/>
          </a:ln>
        </p:spPr>
      </p:sp>
      <p:sp>
        <p:nvSpPr>
          <p:cNvPr id="19" name="Shape 14"/>
          <p:cNvSpPr/>
          <p:nvPr/>
        </p:nvSpPr>
        <p:spPr>
          <a:xfrm>
            <a:off x="685800" y="3108960"/>
            <a:ext cx="502920" cy="50292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806501" y="3229661"/>
            <a:ext cx="261518" cy="261518"/>
          </a:xfrm>
          <a:prstGeom prst="rect">
            <a:avLst/>
          </a:prstGeom>
        </p:spPr>
      </p:pic>
      <p:sp>
        <p:nvSpPr>
          <p:cNvPr id="21" name="Text 15"/>
          <p:cNvSpPr txBox="1"/>
          <p:nvPr/>
        </p:nvSpPr>
        <p:spPr>
          <a:xfrm>
            <a:off x="1325880" y="3154680"/>
            <a:ext cx="1600200" cy="411480"/>
          </a:xfrm>
          <a:prstGeom prst="rect">
            <a:avLst/>
          </a:prstGeom>
          <a:noFill/>
          <a:ln/>
        </p:spPr>
        <p:txBody>
          <a:bodyPr wrap="square" lIns="0" tIns="0" rIns="0" bIns="0" rtlCol="0" anchor="t"/>
          <a:lstStyle/>
          <a:p>
            <a:pPr indent="0" marL="0">
              <a:buNone/>
            </a:pPr>
            <a:r>
              <a:rPr lang="en-US" sz="1700" b="1" dirty="0">
                <a:solidFill>
                  <a:schemeClr val="tx2"/>
                </a:solidFill>
              </a:rPr>
              <a:t>Rules</a:t>
            </a:r>
            <a:endParaRPr lang="en-US" sz="1700" dirty="0"/>
          </a:p>
        </p:txBody>
      </p:sp>
      <p:sp>
        <p:nvSpPr>
          <p:cNvPr id="22" name="Text 16"/>
          <p:cNvSpPr txBox="1"/>
          <p:nvPr/>
        </p:nvSpPr>
        <p:spPr>
          <a:xfrm>
            <a:off x="685800" y="3703320"/>
            <a:ext cx="2194560" cy="594360"/>
          </a:xfrm>
          <a:prstGeom prst="rect">
            <a:avLst/>
          </a:prstGeom>
          <a:noFill/>
          <a:ln/>
        </p:spPr>
        <p:txBody>
          <a:bodyPr wrap="square" lIns="0" tIns="0" rIns="0" bIns="0" rtlCol="0" anchor="t"/>
          <a:lstStyle/>
          <a:p>
            <a:pPr indent="0" marL="0">
              <a:buNone/>
            </a:pPr>
            <a:r>
              <a:rPr lang="en-US" sz="1300" dirty="0">
                <a:solidFill>
                  <a:schemeClr val="tx1"/>
                </a:solidFill>
              </a:rPr>
              <a:t>Plain-English checks that keep running on new bills.</a:t>
            </a:r>
            <a:endParaRPr lang="en-US" sz="1300" dirty="0"/>
          </a:p>
        </p:txBody>
      </p:sp>
      <p:sp>
        <p:nvSpPr>
          <p:cNvPr id="23" name="Shape 17"/>
          <p:cNvSpPr/>
          <p:nvPr/>
        </p:nvSpPr>
        <p:spPr>
          <a:xfrm>
            <a:off x="3273552" y="2880360"/>
            <a:ext cx="2596896" cy="1508760"/>
          </a:xfrm>
          <a:prstGeom prst="roundRect">
            <a:avLst>
              <a:gd name="adj" fmla="val 4848"/>
            </a:avLst>
          </a:prstGeom>
          <a:solidFill>
            <a:schemeClr val="bg2"/>
          </a:solidFill>
          <a:ln w="6350">
            <a:solidFill>
              <a:schemeClr val="bg2"/>
            </a:solidFill>
            <a:prstDash val="solid"/>
          </a:ln>
        </p:spPr>
      </p:sp>
      <p:sp>
        <p:nvSpPr>
          <p:cNvPr id="24" name="Shape 18"/>
          <p:cNvSpPr/>
          <p:nvPr/>
        </p:nvSpPr>
        <p:spPr>
          <a:xfrm>
            <a:off x="3502152" y="3108960"/>
            <a:ext cx="502920" cy="502920"/>
          </a:xfrm>
          <a:prstGeom prst="ellipse">
            <a:avLst/>
          </a:prstGeom>
          <a:solidFill>
            <a:schemeClr val="accent1"/>
          </a:solidFill>
          <a:ln w="12700">
            <a:solidFill>
              <a:schemeClr val="accent1"/>
            </a:solidFill>
            <a:prstDash val="solid"/>
          </a:ln>
        </p:spPr>
      </p:sp>
      <p:pic>
        <p:nvPicPr>
          <p:cNvPr id="25" name="Image 4" descr="preencoded.png">    </p:cNvPr>
          <p:cNvPicPr>
            <a:picLocks noChangeAspect="1"/>
          </p:cNvPicPr>
          <p:nvPr/>
        </p:nvPicPr>
        <p:blipFill>
          <a:blip r:embed="rId5"/>
          <a:stretch>
            <a:fillRect/>
          </a:stretch>
        </p:blipFill>
        <p:spPr>
          <a:xfrm>
            <a:off x="3622853" y="3229661"/>
            <a:ext cx="261518" cy="261518"/>
          </a:xfrm>
          <a:prstGeom prst="rect">
            <a:avLst/>
          </a:prstGeom>
        </p:spPr>
      </p:pic>
      <p:sp>
        <p:nvSpPr>
          <p:cNvPr id="26" name="Text 19"/>
          <p:cNvSpPr txBox="1"/>
          <p:nvPr/>
        </p:nvSpPr>
        <p:spPr>
          <a:xfrm>
            <a:off x="4142232" y="3154680"/>
            <a:ext cx="1600200" cy="411480"/>
          </a:xfrm>
          <a:prstGeom prst="rect">
            <a:avLst/>
          </a:prstGeom>
          <a:noFill/>
          <a:ln/>
        </p:spPr>
        <p:txBody>
          <a:bodyPr wrap="square" lIns="0" tIns="0" rIns="0" bIns="0" rtlCol="0" anchor="t"/>
          <a:lstStyle/>
          <a:p>
            <a:pPr indent="0" marL="0">
              <a:buNone/>
            </a:pPr>
            <a:r>
              <a:rPr lang="en-US" sz="1700" b="1" dirty="0">
                <a:solidFill>
                  <a:schemeClr val="tx2"/>
                </a:solidFill>
              </a:rPr>
              <a:t>Act</a:t>
            </a:r>
            <a:endParaRPr lang="en-US" sz="1700" dirty="0"/>
          </a:p>
        </p:txBody>
      </p:sp>
      <p:sp>
        <p:nvSpPr>
          <p:cNvPr id="27" name="Text 20"/>
          <p:cNvSpPr txBox="1"/>
          <p:nvPr/>
        </p:nvSpPr>
        <p:spPr>
          <a:xfrm>
            <a:off x="3502152" y="3703320"/>
            <a:ext cx="2194560" cy="594360"/>
          </a:xfrm>
          <a:prstGeom prst="rect">
            <a:avLst/>
          </a:prstGeom>
          <a:noFill/>
          <a:ln/>
        </p:spPr>
        <p:txBody>
          <a:bodyPr wrap="square" lIns="0" tIns="0" rIns="0" bIns="0" rtlCol="0" anchor="t"/>
          <a:lstStyle/>
          <a:p>
            <a:pPr indent="0" marL="0">
              <a:buNone/>
            </a:pPr>
            <a:r>
              <a:rPr lang="en-US" sz="1300" dirty="0">
                <a:solidFill>
                  <a:schemeClr val="tx1"/>
                </a:solidFill>
              </a:rPr>
              <a:t>Tasks, assignments and messages. Jev picks the right person.</a:t>
            </a:r>
            <a:endParaRPr lang="en-US" sz="1300" dirty="0"/>
          </a:p>
        </p:txBody>
      </p:sp>
      <p:sp>
        <p:nvSpPr>
          <p:cNvPr id="28" name="Shape 21"/>
          <p:cNvSpPr/>
          <p:nvPr/>
        </p:nvSpPr>
        <p:spPr>
          <a:xfrm>
            <a:off x="6089904" y="2880360"/>
            <a:ext cx="2596896" cy="1508760"/>
          </a:xfrm>
          <a:prstGeom prst="roundRect">
            <a:avLst>
              <a:gd name="adj" fmla="val 4848"/>
            </a:avLst>
          </a:prstGeom>
          <a:solidFill>
            <a:schemeClr val="bg2"/>
          </a:solidFill>
          <a:ln w="6350">
            <a:solidFill>
              <a:schemeClr val="bg2"/>
            </a:solidFill>
            <a:prstDash val="solid"/>
          </a:ln>
        </p:spPr>
      </p:sp>
      <p:sp>
        <p:nvSpPr>
          <p:cNvPr id="29" name="Shape 22"/>
          <p:cNvSpPr/>
          <p:nvPr/>
        </p:nvSpPr>
        <p:spPr>
          <a:xfrm>
            <a:off x="6318504" y="3108960"/>
            <a:ext cx="502920" cy="502920"/>
          </a:xfrm>
          <a:prstGeom prst="ellipse">
            <a:avLst/>
          </a:prstGeom>
          <a:solidFill>
            <a:schemeClr val="accent1"/>
          </a:solidFill>
          <a:ln w="12700">
            <a:solidFill>
              <a:schemeClr val="accent1"/>
            </a:solidFill>
            <a:prstDash val="solid"/>
          </a:ln>
        </p:spPr>
      </p:sp>
      <p:pic>
        <p:nvPicPr>
          <p:cNvPr id="30" name="Image 5" descr="preencoded.png">    </p:cNvPr>
          <p:cNvPicPr>
            <a:picLocks noChangeAspect="1"/>
          </p:cNvPicPr>
          <p:nvPr/>
        </p:nvPicPr>
        <p:blipFill>
          <a:blip r:embed="rId6"/>
          <a:stretch>
            <a:fillRect/>
          </a:stretch>
        </p:blipFill>
        <p:spPr>
          <a:xfrm>
            <a:off x="6439205" y="3229661"/>
            <a:ext cx="261518" cy="261518"/>
          </a:xfrm>
          <a:prstGeom prst="rect">
            <a:avLst/>
          </a:prstGeom>
        </p:spPr>
      </p:pic>
      <p:sp>
        <p:nvSpPr>
          <p:cNvPr id="31" name="Text 23"/>
          <p:cNvSpPr txBox="1"/>
          <p:nvPr/>
        </p:nvSpPr>
        <p:spPr>
          <a:xfrm>
            <a:off x="6958584" y="3154680"/>
            <a:ext cx="1600200" cy="411480"/>
          </a:xfrm>
          <a:prstGeom prst="rect">
            <a:avLst/>
          </a:prstGeom>
          <a:noFill/>
          <a:ln/>
        </p:spPr>
        <p:txBody>
          <a:bodyPr wrap="square" lIns="0" tIns="0" rIns="0" bIns="0" rtlCol="0" anchor="t"/>
          <a:lstStyle/>
          <a:p>
            <a:pPr indent="0" marL="0">
              <a:buNone/>
            </a:pPr>
            <a:r>
              <a:rPr lang="en-US" sz="1700" b="1" dirty="0">
                <a:solidFill>
                  <a:schemeClr val="tx2"/>
                </a:solidFill>
              </a:rPr>
              <a:t>Evaluation</a:t>
            </a:r>
            <a:endParaRPr lang="en-US" sz="1700" dirty="0"/>
          </a:p>
        </p:txBody>
      </p:sp>
      <p:sp>
        <p:nvSpPr>
          <p:cNvPr id="32" name="Text 24"/>
          <p:cNvSpPr txBox="1"/>
          <p:nvPr/>
        </p:nvSpPr>
        <p:spPr>
          <a:xfrm>
            <a:off x="6318504" y="3703320"/>
            <a:ext cx="2194560" cy="594360"/>
          </a:xfrm>
          <a:prstGeom prst="rect">
            <a:avLst/>
          </a:prstGeom>
          <a:noFill/>
          <a:ln/>
        </p:spPr>
        <p:txBody>
          <a:bodyPr wrap="square" lIns="0" tIns="0" rIns="0" bIns="0" rtlCol="0" anchor="t"/>
          <a:lstStyle/>
          <a:p>
            <a:pPr indent="0" marL="0">
              <a:buNone/>
            </a:pPr>
            <a:r>
              <a:rPr lang="en-US" sz="1300" dirty="0">
                <a:solidFill>
                  <a:schemeClr val="tx1"/>
                </a:solidFill>
              </a:rPr>
              <a:t>Every model scored on the same 370 cases.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How a question becomes an exact answer</a:t>
            </a:r>
            <a:endParaRPr lang="en-US" sz="3000" dirty="0"/>
          </a:p>
        </p:txBody>
      </p:sp>
      <p:sp>
        <p:nvSpPr>
          <p:cNvPr id="3" name="Shape 1"/>
          <p:cNvSpPr/>
          <p:nvPr/>
        </p:nvSpPr>
        <p:spPr>
          <a:xfrm>
            <a:off x="457200" y="1325880"/>
            <a:ext cx="1828800" cy="2377440"/>
          </a:xfrm>
          <a:prstGeom prst="roundRect">
            <a:avLst>
              <a:gd name="adj" fmla="val 4000"/>
            </a:avLst>
          </a:prstGeom>
          <a:solidFill>
            <a:schemeClr val="bg2"/>
          </a:solidFill>
          <a:ln w="6350">
            <a:solidFill>
              <a:schemeClr val="bg2"/>
            </a:solidFill>
            <a:prstDash val="solid"/>
          </a:ln>
        </p:spPr>
      </p:sp>
      <p:sp>
        <p:nvSpPr>
          <p:cNvPr id="4" name="Shape 2"/>
          <p:cNvSpPr/>
          <p:nvPr/>
        </p:nvSpPr>
        <p:spPr>
          <a:xfrm>
            <a:off x="685800" y="155448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685800" y="15544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4"/>
          <p:cNvSpPr txBox="1"/>
          <p:nvPr/>
        </p:nvSpPr>
        <p:spPr>
          <a:xfrm>
            <a:off x="685800" y="2240280"/>
            <a:ext cx="1463040" cy="594360"/>
          </a:xfrm>
          <a:prstGeom prst="rect">
            <a:avLst/>
          </a:prstGeom>
          <a:noFill/>
          <a:ln/>
        </p:spPr>
        <p:txBody>
          <a:bodyPr wrap="square" lIns="0" tIns="0" rIns="0" bIns="0" rtlCol="0" anchor="t"/>
          <a:lstStyle/>
          <a:p>
            <a:pPr indent="0" marL="0">
              <a:buNone/>
            </a:pPr>
            <a:r>
              <a:rPr lang="en-US" sz="1600" b="1" dirty="0">
                <a:solidFill>
                  <a:schemeClr val="tx2"/>
                </a:solidFill>
              </a:rPr>
              <a:t>You ask</a:t>
            </a:r>
            <a:endParaRPr lang="en-US" sz="1600" dirty="0"/>
          </a:p>
        </p:txBody>
      </p:sp>
      <p:sp>
        <p:nvSpPr>
          <p:cNvPr id="7" name="Text 5"/>
          <p:cNvSpPr txBox="1"/>
          <p:nvPr/>
        </p:nvSpPr>
        <p:spPr>
          <a:xfrm>
            <a:off x="685800" y="2834640"/>
            <a:ext cx="1463040" cy="777240"/>
          </a:xfrm>
          <a:prstGeom prst="rect">
            <a:avLst/>
          </a:prstGeom>
          <a:noFill/>
          <a:ln/>
        </p:spPr>
        <p:txBody>
          <a:bodyPr wrap="square" lIns="0" tIns="0" rIns="0" bIns="0" rtlCol="0" anchor="t"/>
          <a:lstStyle/>
          <a:p>
            <a:pPr indent="0" marL="0">
              <a:buNone/>
            </a:pPr>
            <a:r>
              <a:rPr lang="en-US" sz="1200" dirty="0">
                <a:solidFill>
                  <a:schemeClr val="tx1"/>
                </a:solidFill>
              </a:rPr>
              <a:t>“Graph utilities by month”, typed or spoken</a:t>
            </a:r>
            <a:endParaRPr lang="en-US" sz="1200" dirty="0"/>
          </a:p>
        </p:txBody>
      </p:sp>
      <p:pic>
        <p:nvPicPr>
          <p:cNvPr id="8" name="Image 0" descr="preencoded.png">    </p:cNvPr>
          <p:cNvPicPr>
            <a:picLocks noChangeAspect="1"/>
          </p:cNvPicPr>
          <p:nvPr/>
        </p:nvPicPr>
        <p:blipFill>
          <a:blip r:embed="rId1"/>
          <a:stretch>
            <a:fillRect/>
          </a:stretch>
        </p:blipFill>
        <p:spPr>
          <a:xfrm>
            <a:off x="2331720" y="2377440"/>
            <a:ext cx="219456" cy="219456"/>
          </a:xfrm>
          <a:prstGeom prst="rect">
            <a:avLst/>
          </a:prstGeom>
        </p:spPr>
      </p:pic>
      <p:sp>
        <p:nvSpPr>
          <p:cNvPr id="9" name="Shape 6"/>
          <p:cNvSpPr/>
          <p:nvPr/>
        </p:nvSpPr>
        <p:spPr>
          <a:xfrm>
            <a:off x="2587752" y="1325880"/>
            <a:ext cx="1828800" cy="2377440"/>
          </a:xfrm>
          <a:prstGeom prst="roundRect">
            <a:avLst>
              <a:gd name="adj" fmla="val 4000"/>
            </a:avLst>
          </a:prstGeom>
          <a:solidFill>
            <a:schemeClr val="bg2"/>
          </a:solidFill>
          <a:ln w="6350">
            <a:solidFill>
              <a:schemeClr val="bg2"/>
            </a:solidFill>
            <a:prstDash val="solid"/>
          </a:ln>
        </p:spPr>
      </p:sp>
      <p:sp>
        <p:nvSpPr>
          <p:cNvPr id="10" name="Shape 7"/>
          <p:cNvSpPr/>
          <p:nvPr/>
        </p:nvSpPr>
        <p:spPr>
          <a:xfrm>
            <a:off x="2816352" y="1554480"/>
            <a:ext cx="502920" cy="502920"/>
          </a:xfrm>
          <a:prstGeom prst="ellipse">
            <a:avLst/>
          </a:prstGeom>
          <a:solidFill>
            <a:schemeClr val="accent1"/>
          </a:solidFill>
          <a:ln w="12700">
            <a:solidFill>
              <a:schemeClr val="accent1"/>
            </a:solidFill>
            <a:prstDash val="solid"/>
          </a:ln>
        </p:spPr>
      </p:sp>
      <p:sp>
        <p:nvSpPr>
          <p:cNvPr id="11" name="Text 8"/>
          <p:cNvSpPr txBox="1"/>
          <p:nvPr/>
        </p:nvSpPr>
        <p:spPr>
          <a:xfrm>
            <a:off x="2816352" y="15544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2816352" y="2240280"/>
            <a:ext cx="1463040" cy="594360"/>
          </a:xfrm>
          <a:prstGeom prst="rect">
            <a:avLst/>
          </a:prstGeom>
          <a:noFill/>
          <a:ln/>
        </p:spPr>
        <p:txBody>
          <a:bodyPr wrap="square" lIns="0" tIns="0" rIns="0" bIns="0" rtlCol="0" anchor="t"/>
          <a:lstStyle/>
          <a:p>
            <a:pPr indent="0" marL="0">
              <a:buNone/>
            </a:pPr>
            <a:r>
              <a:rPr lang="en-US" sz="1600" b="1" dirty="0">
                <a:solidFill>
                  <a:schemeClr val="tx2"/>
                </a:solidFill>
              </a:rPr>
              <a:t>Jev reads the question</a:t>
            </a:r>
            <a:endParaRPr lang="en-US" sz="1600" dirty="0"/>
          </a:p>
        </p:txBody>
      </p:sp>
      <p:sp>
        <p:nvSpPr>
          <p:cNvPr id="13" name="Text 10"/>
          <p:cNvSpPr txBox="1"/>
          <p:nvPr/>
        </p:nvSpPr>
        <p:spPr>
          <a:xfrm>
            <a:off x="2816352" y="2834640"/>
            <a:ext cx="1463040" cy="777240"/>
          </a:xfrm>
          <a:prstGeom prst="rect">
            <a:avLst/>
          </a:prstGeom>
          <a:noFill/>
          <a:ln/>
        </p:spPr>
        <p:txBody>
          <a:bodyPr wrap="square" lIns="0" tIns="0" rIns="0" bIns="0" rtlCol="0" anchor="t"/>
          <a:lstStyle/>
          <a:p>
            <a:pPr indent="0" marL="0">
              <a:buNone/>
            </a:pPr>
            <a:r>
              <a:rPr lang="en-US" sz="1200" dirty="0">
                <a:solidFill>
                  <a:schemeClr val="tx1"/>
                </a:solidFill>
              </a:rPr>
              <a:t>Picks answer type, topic and period from fixed choices</a:t>
            </a:r>
            <a:endParaRPr lang="en-US" sz="1200" dirty="0"/>
          </a:p>
        </p:txBody>
      </p:sp>
      <p:pic>
        <p:nvPicPr>
          <p:cNvPr id="14" name="Image 1" descr="preencoded.png">    </p:cNvPr>
          <p:cNvPicPr>
            <a:picLocks noChangeAspect="1"/>
          </p:cNvPicPr>
          <p:nvPr/>
        </p:nvPicPr>
        <p:blipFill>
          <a:blip r:embed="rId2"/>
          <a:stretch>
            <a:fillRect/>
          </a:stretch>
        </p:blipFill>
        <p:spPr>
          <a:xfrm>
            <a:off x="4462272" y="2377440"/>
            <a:ext cx="219456" cy="219456"/>
          </a:xfrm>
          <a:prstGeom prst="rect">
            <a:avLst/>
          </a:prstGeom>
        </p:spPr>
      </p:pic>
      <p:sp>
        <p:nvSpPr>
          <p:cNvPr id="15" name="Shape 11"/>
          <p:cNvSpPr/>
          <p:nvPr/>
        </p:nvSpPr>
        <p:spPr>
          <a:xfrm>
            <a:off x="4718304" y="1325880"/>
            <a:ext cx="1828800" cy="2377440"/>
          </a:xfrm>
          <a:prstGeom prst="roundRect">
            <a:avLst>
              <a:gd name="adj" fmla="val 4000"/>
            </a:avLst>
          </a:prstGeom>
          <a:solidFill>
            <a:schemeClr val="bg2"/>
          </a:solidFill>
          <a:ln w="6350">
            <a:solidFill>
              <a:schemeClr val="bg2"/>
            </a:solidFill>
            <a:prstDash val="solid"/>
          </a:ln>
        </p:spPr>
      </p:sp>
      <p:sp>
        <p:nvSpPr>
          <p:cNvPr id="16" name="Shape 12"/>
          <p:cNvSpPr/>
          <p:nvPr/>
        </p:nvSpPr>
        <p:spPr>
          <a:xfrm>
            <a:off x="4946904" y="1554480"/>
            <a:ext cx="502920" cy="502920"/>
          </a:xfrm>
          <a:prstGeom prst="ellipse">
            <a:avLst/>
          </a:prstGeom>
          <a:solidFill>
            <a:schemeClr val="accent1"/>
          </a:solidFill>
          <a:ln w="12700">
            <a:solidFill>
              <a:schemeClr val="accent1"/>
            </a:solidFill>
            <a:prstDash val="solid"/>
          </a:ln>
        </p:spPr>
      </p:sp>
      <p:sp>
        <p:nvSpPr>
          <p:cNvPr id="17" name="Text 13"/>
          <p:cNvSpPr txBox="1"/>
          <p:nvPr/>
        </p:nvSpPr>
        <p:spPr>
          <a:xfrm>
            <a:off x="4946904" y="15544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4"/>
          <p:cNvSpPr txBox="1"/>
          <p:nvPr/>
        </p:nvSpPr>
        <p:spPr>
          <a:xfrm>
            <a:off x="4946904" y="2240280"/>
            <a:ext cx="1463040" cy="594360"/>
          </a:xfrm>
          <a:prstGeom prst="rect">
            <a:avLst/>
          </a:prstGeom>
          <a:noFill/>
          <a:ln/>
        </p:spPr>
        <p:txBody>
          <a:bodyPr wrap="square" lIns="0" tIns="0" rIns="0" bIns="0" rtlCol="0" anchor="t"/>
          <a:lstStyle/>
          <a:p>
            <a:pPr indent="0" marL="0">
              <a:buNone/>
            </a:pPr>
            <a:r>
              <a:rPr lang="en-US" sz="1600" b="1" dirty="0">
                <a:solidFill>
                  <a:schemeClr val="tx2"/>
                </a:solidFill>
              </a:rPr>
              <a:t>Jev judges every bill</a:t>
            </a:r>
            <a:endParaRPr lang="en-US" sz="1600" dirty="0"/>
          </a:p>
        </p:txBody>
      </p:sp>
      <p:sp>
        <p:nvSpPr>
          <p:cNvPr id="19" name="Text 15"/>
          <p:cNvSpPr txBox="1"/>
          <p:nvPr/>
        </p:nvSpPr>
        <p:spPr>
          <a:xfrm>
            <a:off x="4946904" y="2834640"/>
            <a:ext cx="1463040" cy="777240"/>
          </a:xfrm>
          <a:prstGeom prst="rect">
            <a:avLst/>
          </a:prstGeom>
          <a:noFill/>
          <a:ln/>
        </p:spPr>
        <p:txBody>
          <a:bodyPr wrap="square" lIns="0" tIns="0" rIns="0" bIns="0" rtlCol="0" anchor="t"/>
          <a:lstStyle/>
          <a:p>
            <a:pPr indent="0" marL="0">
              <a:buNone/>
            </a:pPr>
            <a:r>
              <a:rPr lang="en-US" sz="1200" dirty="0">
                <a:solidFill>
                  <a:schemeClr val="tx1"/>
                </a:solidFill>
              </a:rPr>
              <a:t>Match, no match or uncertain, with confidence, in parallel</a:t>
            </a:r>
            <a:endParaRPr lang="en-US" sz="1200" dirty="0"/>
          </a:p>
        </p:txBody>
      </p:sp>
      <p:pic>
        <p:nvPicPr>
          <p:cNvPr id="20" name="Image 2" descr="preencoded.png">    </p:cNvPr>
          <p:cNvPicPr>
            <a:picLocks noChangeAspect="1"/>
          </p:cNvPicPr>
          <p:nvPr/>
        </p:nvPicPr>
        <p:blipFill>
          <a:blip r:embed="rId3"/>
          <a:stretch>
            <a:fillRect/>
          </a:stretch>
        </p:blipFill>
        <p:spPr>
          <a:xfrm>
            <a:off x="6592824" y="2377440"/>
            <a:ext cx="219456" cy="219456"/>
          </a:xfrm>
          <a:prstGeom prst="rect">
            <a:avLst/>
          </a:prstGeom>
        </p:spPr>
      </p:pic>
      <p:sp>
        <p:nvSpPr>
          <p:cNvPr id="21" name="Shape 16"/>
          <p:cNvSpPr/>
          <p:nvPr/>
        </p:nvSpPr>
        <p:spPr>
          <a:xfrm>
            <a:off x="6848856" y="1325880"/>
            <a:ext cx="1828800" cy="2377440"/>
          </a:xfrm>
          <a:prstGeom prst="roundRect">
            <a:avLst>
              <a:gd name="adj" fmla="val 4000"/>
            </a:avLst>
          </a:prstGeom>
          <a:solidFill>
            <a:schemeClr val="tx2"/>
          </a:solidFill>
          <a:ln w="6350">
            <a:solidFill>
              <a:schemeClr val="tx2"/>
            </a:solidFill>
            <a:prstDash val="solid"/>
          </a:ln>
        </p:spPr>
      </p:sp>
      <p:sp>
        <p:nvSpPr>
          <p:cNvPr id="22" name="Shape 17"/>
          <p:cNvSpPr/>
          <p:nvPr/>
        </p:nvSpPr>
        <p:spPr>
          <a:xfrm>
            <a:off x="7077456" y="1554480"/>
            <a:ext cx="502920" cy="502920"/>
          </a:xfrm>
          <a:prstGeom prst="ellipse">
            <a:avLst/>
          </a:prstGeom>
          <a:solidFill>
            <a:schemeClr val="accent2"/>
          </a:solidFill>
          <a:ln w="12700">
            <a:solidFill>
              <a:schemeClr val="accent2"/>
            </a:solidFill>
            <a:prstDash val="solid"/>
          </a:ln>
        </p:spPr>
      </p:sp>
      <p:sp>
        <p:nvSpPr>
          <p:cNvPr id="23" name="Text 18"/>
          <p:cNvSpPr txBox="1"/>
          <p:nvPr/>
        </p:nvSpPr>
        <p:spPr>
          <a:xfrm>
            <a:off x="7077456" y="155448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4" name="Text 19"/>
          <p:cNvSpPr txBox="1"/>
          <p:nvPr/>
        </p:nvSpPr>
        <p:spPr>
          <a:xfrm>
            <a:off x="7077456" y="2240280"/>
            <a:ext cx="1463040" cy="594360"/>
          </a:xfrm>
          <a:prstGeom prst="rect">
            <a:avLst/>
          </a:prstGeom>
          <a:noFill/>
          <a:ln/>
        </p:spPr>
        <p:txBody>
          <a:bodyPr wrap="square" lIns="0" tIns="0" rIns="0" bIns="0" rtlCol="0" anchor="t"/>
          <a:lstStyle/>
          <a:p>
            <a:pPr indent="0" marL="0">
              <a:buNone/>
            </a:pPr>
            <a:r>
              <a:rPr lang="en-US" sz="1600" b="1" dirty="0">
                <a:solidFill>
                  <a:schemeClr val="bg1"/>
                </a:solidFill>
              </a:rPr>
              <a:t>Code answers</a:t>
            </a:r>
            <a:endParaRPr lang="en-US" sz="1600" dirty="0"/>
          </a:p>
        </p:txBody>
      </p:sp>
      <p:sp>
        <p:nvSpPr>
          <p:cNvPr id="25" name="Text 20"/>
          <p:cNvSpPr txBox="1"/>
          <p:nvPr/>
        </p:nvSpPr>
        <p:spPr>
          <a:xfrm>
            <a:off x="7077456" y="2834640"/>
            <a:ext cx="1463040" cy="777240"/>
          </a:xfrm>
          <a:prstGeom prst="rect">
            <a:avLst/>
          </a:prstGeom>
          <a:noFill/>
          <a:ln/>
        </p:spPr>
        <p:txBody>
          <a:bodyPr wrap="square" lIns="0" tIns="0" rIns="0" bIns="0" rtlCol="0" anchor="t"/>
          <a:lstStyle/>
          <a:p>
            <a:pPr indent="0" marL="0">
              <a:buNone/>
            </a:pPr>
            <a:r>
              <a:rPr lang="en-US" sz="1200" dirty="0">
                <a:solidFill>
                  <a:schemeClr val="bg2"/>
                </a:solidFill>
              </a:rPr>
              <a:t>Exact sums, a chart on the Dashboard, one-click actions</a:t>
            </a:r>
            <a:endParaRPr lang="en-US" sz="1200" dirty="0"/>
          </a:p>
        </p:txBody>
      </p:sp>
      <p:sp>
        <p:nvSpPr>
          <p:cNvPr id="26" name="Text 21"/>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300" b="1" dirty="0">
                <a:solidFill>
                  <a:schemeClr val="tx2"/>
                </a:solidFill>
              </a:rPr>
              <a:t>You choose the model per question: </a:t>
            </a:r>
            <a:pPr indent="0" marL="0">
              <a:buNone/>
            </a:pPr>
            <a:r>
              <a:rPr lang="en-US" sz="1300" dirty="0">
                <a:solidFill>
                  <a:schemeClr val="tx1"/>
                </a:solidFill>
              </a:rPr>
              <a:t>Jev on the AI Gateway key, or Gemini on its own key. A test makes sure the keys never mix.</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Our own model, and it learns from corrections</a:t>
            </a:r>
            <a:endParaRPr lang="en-US" sz="3000" dirty="0"/>
          </a:p>
        </p:txBody>
      </p:sp>
      <p:sp>
        <p:nvSpPr>
          <p:cNvPr id="3" name="Shape 1"/>
          <p:cNvSpPr/>
          <p:nvPr/>
        </p:nvSpPr>
        <p:spPr>
          <a:xfrm>
            <a:off x="457200" y="1188720"/>
            <a:ext cx="3566160" cy="3291840"/>
          </a:xfrm>
          <a:prstGeom prst="roundRect">
            <a:avLst>
              <a:gd name="adj" fmla="val 2222"/>
            </a:avLst>
          </a:prstGeom>
          <a:solidFill>
            <a:schemeClr val="tx2"/>
          </a:solidFill>
          <a:ln w="6350">
            <a:solidFill>
              <a:schemeClr val="tx2"/>
            </a:solidFill>
            <a:prstDash val="solid"/>
          </a:ln>
        </p:spPr>
      </p:sp>
      <p:sp>
        <p:nvSpPr>
          <p:cNvPr id="4" name="Text 2"/>
          <p:cNvSpPr txBox="1"/>
          <p:nvPr/>
        </p:nvSpPr>
        <p:spPr>
          <a:xfrm>
            <a:off x="731520" y="1371600"/>
            <a:ext cx="3108960" cy="868680"/>
          </a:xfrm>
          <a:prstGeom prst="rect">
            <a:avLst/>
          </a:prstGeom>
          <a:noFill/>
          <a:ln/>
        </p:spPr>
        <p:txBody>
          <a:bodyPr wrap="square" lIns="0" tIns="0" rIns="0" bIns="0" rtlCol="0" anchor="t"/>
          <a:lstStyle/>
          <a:p>
            <a:pPr indent="0" marL="0">
              <a:buNone/>
            </a:pPr>
            <a:r>
              <a:rPr lang="en-US" sz="6000" b="1" dirty="0">
                <a:solidFill>
                  <a:schemeClr val="accent2"/>
                </a:solidFill>
              </a:rPr>
              <a:t>14,400</a:t>
            </a:r>
            <a:endParaRPr lang="en-US" sz="6000" dirty="0"/>
          </a:p>
        </p:txBody>
      </p:sp>
      <p:sp>
        <p:nvSpPr>
          <p:cNvPr id="5" name="Text 3"/>
          <p:cNvSpPr txBox="1"/>
          <p:nvPr/>
        </p:nvSpPr>
        <p:spPr>
          <a:xfrm>
            <a:off x="731520" y="2240280"/>
            <a:ext cx="3108960" cy="365760"/>
          </a:xfrm>
          <a:prstGeom prst="rect">
            <a:avLst/>
          </a:prstGeom>
          <a:noFill/>
          <a:ln/>
        </p:spPr>
        <p:txBody>
          <a:bodyPr wrap="square" lIns="0" tIns="0" rIns="0" bIns="0" rtlCol="0" anchor="t"/>
          <a:lstStyle/>
          <a:p>
            <a:pPr indent="0" marL="0">
              <a:buNone/>
            </a:pPr>
            <a:r>
              <a:rPr lang="en-US" sz="1800" dirty="0">
                <a:solidFill>
                  <a:schemeClr val="bg1"/>
                </a:solidFill>
              </a:rPr>
              <a:t>accounting examples</a:t>
            </a:r>
            <a:endParaRPr lang="en-US" sz="1800" dirty="0"/>
          </a:p>
        </p:txBody>
      </p:sp>
      <p:sp>
        <p:nvSpPr>
          <p:cNvPr id="6" name="Text 4"/>
          <p:cNvSpPr txBox="1"/>
          <p:nvPr/>
        </p:nvSpPr>
        <p:spPr>
          <a:xfrm>
            <a:off x="731520" y="2743200"/>
            <a:ext cx="3108960" cy="1600200"/>
          </a:xfrm>
          <a:prstGeom prst="rect">
            <a:avLst/>
          </a:prstGeom>
          <a:noFill/>
          <a:ln/>
        </p:spPr>
        <p:txBody>
          <a:bodyPr wrap="square" lIns="0" tIns="0" rIns="0" bIns="0" rtlCol="0" anchor="t"/>
          <a:lstStyle/>
          <a:p>
            <a:pPr indent="0" marL="0">
              <a:buNone/>
            </a:pPr>
            <a:r>
              <a:rPr lang="en-US" sz="1300" b="1" dirty="0">
                <a:solidFill>
                  <a:schemeClr val="bg2"/>
                </a:solidFill>
              </a:rPr>
              <a:t>Qwen3-1.7B fine-tuned on Veri</a:t>
            </a:r>
            <a:endParaRPr lang="en-US" sz="1300" dirty="0"/>
          </a:p>
          <a:p>
            <a:pPr indent="0" marL="0">
              <a:buNone/>
            </a:pPr>
            <a:r>
              <a:rPr lang="en-US" sz="1300" dirty="0">
                <a:solidFill>
                  <a:schemeClr val="bg2"/>
                </a:solidFill>
              </a:rPr>
              <a:t>Checks a transaction against a plain-English condition: Match, No match or Uncertain.</a:t>
            </a:r>
            <a:endParaRPr lang="en-US" sz="1300" dirty="0"/>
          </a:p>
          <a:p>
            <a:pPr indent="0" marL="0">
              <a:buNone/>
            </a:pPr>
            <a:r>
              <a:rPr lang="en-US" sz="600" dirty="0">
                <a:solidFill>
                  <a:schemeClr val="bg2"/>
                </a:solidFill>
              </a:rPr>
              <a:t> </a:t>
            </a:r>
            <a:endParaRPr lang="en-US" sz="1300" dirty="0"/>
          </a:p>
          <a:p>
            <a:pPr indent="0" marL="0">
              <a:buNone/>
            </a:pPr>
            <a:r>
              <a:rPr lang="en-US" sz="1300" dirty="0">
                <a:solidFill>
                  <a:schemeClr val="bg2"/>
                </a:solidFill>
              </a:rPr>
              <a:t>Deployed on Veri and available alongside Jev in Explore and Rules.</a:t>
            </a:r>
            <a:endParaRPr lang="en-US" sz="1300" dirty="0"/>
          </a:p>
        </p:txBody>
      </p:sp>
      <p:sp>
        <p:nvSpPr>
          <p:cNvPr id="7" name="Shape 5"/>
          <p:cNvSpPr/>
          <p:nvPr/>
        </p:nvSpPr>
        <p:spPr>
          <a:xfrm>
            <a:off x="4343400" y="1234440"/>
            <a:ext cx="475488" cy="475488"/>
          </a:xfrm>
          <a:prstGeom prst="ellipse">
            <a:avLst/>
          </a:prstGeom>
          <a:solidFill>
            <a:schemeClr val="accent1"/>
          </a:solidFill>
          <a:ln w="12700">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4457517" y="1348557"/>
            <a:ext cx="247254" cy="247254"/>
          </a:xfrm>
          <a:prstGeom prst="rect">
            <a:avLst/>
          </a:prstGeom>
        </p:spPr>
      </p:pic>
      <p:sp>
        <p:nvSpPr>
          <p:cNvPr id="9" name="Text 6"/>
          <p:cNvSpPr txBox="1"/>
          <p:nvPr/>
        </p:nvSpPr>
        <p:spPr>
          <a:xfrm>
            <a:off x="4983480" y="1188720"/>
            <a:ext cx="3703320" cy="292608"/>
          </a:xfrm>
          <a:prstGeom prst="rect">
            <a:avLst/>
          </a:prstGeom>
          <a:noFill/>
          <a:ln/>
        </p:spPr>
        <p:txBody>
          <a:bodyPr wrap="square" lIns="0" tIns="0" rIns="0" bIns="0" rtlCol="0" anchor="t"/>
          <a:lstStyle/>
          <a:p>
            <a:pPr indent="0" marL="0">
              <a:buNone/>
            </a:pPr>
            <a:r>
              <a:rPr lang="en-US" sz="1500" b="1" dirty="0">
                <a:solidFill>
                  <a:schemeClr val="tx2"/>
                </a:solidFill>
              </a:rPr>
              <a:t>Correct</a:t>
            </a:r>
            <a:endParaRPr lang="en-US" sz="1500" dirty="0"/>
          </a:p>
        </p:txBody>
      </p:sp>
      <p:sp>
        <p:nvSpPr>
          <p:cNvPr id="10" name="Text 7"/>
          <p:cNvSpPr txBox="1"/>
          <p:nvPr/>
        </p:nvSpPr>
        <p:spPr>
          <a:xfrm>
            <a:off x="4983480" y="1490472"/>
            <a:ext cx="3703320" cy="502920"/>
          </a:xfrm>
          <a:prstGeom prst="rect">
            <a:avLst/>
          </a:prstGeom>
          <a:noFill/>
          <a:ln/>
        </p:spPr>
        <p:txBody>
          <a:bodyPr wrap="square" lIns="0" tIns="0" rIns="0" bIns="0" rtlCol="0" anchor="t"/>
          <a:lstStyle/>
          <a:p>
            <a:pPr indent="0" marL="0">
              <a:buNone/>
            </a:pPr>
            <a:r>
              <a:rPr lang="en-US" sz="1200" dirty="0">
                <a:solidFill>
                  <a:schemeClr val="tx1"/>
                </a:solidFill>
              </a:rPr>
              <a:t>Users fix any prediction they disagree with.</a:t>
            </a:r>
            <a:endParaRPr lang="en-US" sz="1200" dirty="0"/>
          </a:p>
        </p:txBody>
      </p:sp>
      <p:sp>
        <p:nvSpPr>
          <p:cNvPr id="11" name="Shape 8"/>
          <p:cNvSpPr/>
          <p:nvPr/>
        </p:nvSpPr>
        <p:spPr>
          <a:xfrm>
            <a:off x="4343400" y="2075688"/>
            <a:ext cx="475488" cy="475488"/>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4457517" y="2189805"/>
            <a:ext cx="247254" cy="247254"/>
          </a:xfrm>
          <a:prstGeom prst="rect">
            <a:avLst/>
          </a:prstGeom>
        </p:spPr>
      </p:pic>
      <p:sp>
        <p:nvSpPr>
          <p:cNvPr id="13" name="Text 9"/>
          <p:cNvSpPr txBox="1"/>
          <p:nvPr/>
        </p:nvSpPr>
        <p:spPr>
          <a:xfrm>
            <a:off x="4983480" y="2029968"/>
            <a:ext cx="3703320" cy="292608"/>
          </a:xfrm>
          <a:prstGeom prst="rect">
            <a:avLst/>
          </a:prstGeom>
          <a:noFill/>
          <a:ln/>
        </p:spPr>
        <p:txBody>
          <a:bodyPr wrap="square" lIns="0" tIns="0" rIns="0" bIns="0" rtlCol="0" anchor="t"/>
          <a:lstStyle/>
          <a:p>
            <a:pPr indent="0" marL="0">
              <a:buNone/>
            </a:pPr>
            <a:r>
              <a:rPr lang="en-US" sz="1500" b="1" dirty="0">
                <a:solidFill>
                  <a:schemeClr val="tx2"/>
                </a:solidFill>
              </a:rPr>
              <a:t>Review &amp; export</a:t>
            </a:r>
            <a:endParaRPr lang="en-US" sz="1500" dirty="0"/>
          </a:p>
        </p:txBody>
      </p:sp>
      <p:sp>
        <p:nvSpPr>
          <p:cNvPr id="14" name="Text 10"/>
          <p:cNvSpPr txBox="1"/>
          <p:nvPr/>
        </p:nvSpPr>
        <p:spPr>
          <a:xfrm>
            <a:off x="4983480" y="2331720"/>
            <a:ext cx="3703320" cy="502920"/>
          </a:xfrm>
          <a:prstGeom prst="rect">
            <a:avLst/>
          </a:prstGeom>
          <a:noFill/>
          <a:ln/>
        </p:spPr>
        <p:txBody>
          <a:bodyPr wrap="square" lIns="0" tIns="0" rIns="0" bIns="0" rtlCol="0" anchor="t"/>
          <a:lstStyle/>
          <a:p>
            <a:pPr indent="0" marL="0">
              <a:buNone/>
            </a:pPr>
            <a:r>
              <a:rPr lang="en-US" sz="1200" dirty="0">
                <a:solidFill>
                  <a:schemeClr val="tx1"/>
                </a:solidFill>
              </a:rPr>
              <a:t>See every correction and export the examples.</a:t>
            </a:r>
            <a:endParaRPr lang="en-US" sz="1200" dirty="0"/>
          </a:p>
        </p:txBody>
      </p:sp>
      <p:sp>
        <p:nvSpPr>
          <p:cNvPr id="15" name="Shape 11"/>
          <p:cNvSpPr/>
          <p:nvPr/>
        </p:nvSpPr>
        <p:spPr>
          <a:xfrm>
            <a:off x="4343400" y="2916936"/>
            <a:ext cx="475488" cy="475488"/>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4457517" y="3031053"/>
            <a:ext cx="247254" cy="247254"/>
          </a:xfrm>
          <a:prstGeom prst="rect">
            <a:avLst/>
          </a:prstGeom>
        </p:spPr>
      </p:pic>
      <p:sp>
        <p:nvSpPr>
          <p:cNvPr id="17" name="Text 12"/>
          <p:cNvSpPr txBox="1"/>
          <p:nvPr/>
        </p:nvSpPr>
        <p:spPr>
          <a:xfrm>
            <a:off x="4983480" y="2871216"/>
            <a:ext cx="3703320" cy="292608"/>
          </a:xfrm>
          <a:prstGeom prst="rect">
            <a:avLst/>
          </a:prstGeom>
          <a:noFill/>
          <a:ln/>
        </p:spPr>
        <p:txBody>
          <a:bodyPr wrap="square" lIns="0" tIns="0" rIns="0" bIns="0" rtlCol="0" anchor="t"/>
          <a:lstStyle/>
          <a:p>
            <a:pPr indent="0" marL="0">
              <a:buNone/>
            </a:pPr>
            <a:r>
              <a:rPr lang="en-US" sz="1500" b="1" dirty="0">
                <a:solidFill>
                  <a:schemeClr val="tx2"/>
                </a:solidFill>
              </a:rPr>
              <a:t>Upload (optional)</a:t>
            </a:r>
            <a:endParaRPr lang="en-US" sz="1500" dirty="0"/>
          </a:p>
        </p:txBody>
      </p:sp>
      <p:sp>
        <p:nvSpPr>
          <p:cNvPr id="18" name="Text 13"/>
          <p:cNvSpPr txBox="1"/>
          <p:nvPr/>
        </p:nvSpPr>
        <p:spPr>
          <a:xfrm>
            <a:off x="4983480" y="3172968"/>
            <a:ext cx="3703320" cy="502920"/>
          </a:xfrm>
          <a:prstGeom prst="rect">
            <a:avLst/>
          </a:prstGeom>
          <a:noFill/>
          <a:ln/>
        </p:spPr>
        <p:txBody>
          <a:bodyPr wrap="square" lIns="0" tIns="0" rIns="0" bIns="0" rtlCol="0" anchor="t"/>
          <a:lstStyle/>
          <a:p>
            <a:pPr indent="0" marL="0">
              <a:buNone/>
            </a:pPr>
            <a:r>
              <a:rPr lang="en-US" sz="1200" dirty="0">
                <a:solidFill>
                  <a:schemeClr val="tx1"/>
                </a:solidFill>
              </a:rPr>
              <a:t>Original training data plus corrections, as one dataset.</a:t>
            </a:r>
            <a:endParaRPr lang="en-US" sz="1200" dirty="0"/>
          </a:p>
        </p:txBody>
      </p:sp>
      <p:sp>
        <p:nvSpPr>
          <p:cNvPr id="19" name="Shape 14"/>
          <p:cNvSpPr/>
          <p:nvPr/>
        </p:nvSpPr>
        <p:spPr>
          <a:xfrm>
            <a:off x="4343400" y="3758184"/>
            <a:ext cx="475488" cy="475488"/>
          </a:xfrm>
          <a:prstGeom prst="ellipse">
            <a:avLst/>
          </a:prstGeom>
          <a:solidFill>
            <a:schemeClr val="tx2"/>
          </a:solidFill>
          <a:ln w="12700">
            <a:solidFill>
              <a:schemeClr val="tx2"/>
            </a:solidFill>
            <a:prstDash val="solid"/>
          </a:ln>
        </p:spPr>
      </p:sp>
      <p:pic>
        <p:nvPicPr>
          <p:cNvPr id="20" name="Image 3" descr="preencoded.png">    </p:cNvPr>
          <p:cNvPicPr>
            <a:picLocks noChangeAspect="1"/>
          </p:cNvPicPr>
          <p:nvPr/>
        </p:nvPicPr>
        <p:blipFill>
          <a:blip r:embed="rId4"/>
          <a:stretch>
            <a:fillRect/>
          </a:stretch>
        </p:blipFill>
        <p:spPr>
          <a:xfrm>
            <a:off x="4457517" y="3872301"/>
            <a:ext cx="247254" cy="247254"/>
          </a:xfrm>
          <a:prstGeom prst="rect">
            <a:avLst/>
          </a:prstGeom>
        </p:spPr>
      </p:pic>
      <p:sp>
        <p:nvSpPr>
          <p:cNvPr id="21" name="Text 15"/>
          <p:cNvSpPr txBox="1"/>
          <p:nvPr/>
        </p:nvSpPr>
        <p:spPr>
          <a:xfrm>
            <a:off x="4983480" y="3712464"/>
            <a:ext cx="3703320" cy="292608"/>
          </a:xfrm>
          <a:prstGeom prst="rect">
            <a:avLst/>
          </a:prstGeom>
          <a:noFill/>
          <a:ln/>
        </p:spPr>
        <p:txBody>
          <a:bodyPr wrap="square" lIns="0" tIns="0" rIns="0" bIns="0" rtlCol="0" anchor="t"/>
          <a:lstStyle/>
          <a:p>
            <a:pPr indent="0" marL="0">
              <a:buNone/>
            </a:pPr>
            <a:r>
              <a:rPr lang="en-US" sz="1500" b="1" dirty="0">
                <a:solidFill>
                  <a:schemeClr val="tx2"/>
                </a:solidFill>
              </a:rPr>
              <a:t>Retrain safely</a:t>
            </a:r>
            <a:endParaRPr lang="en-US" sz="1500" dirty="0"/>
          </a:p>
        </p:txBody>
      </p:sp>
      <p:sp>
        <p:nvSpPr>
          <p:cNvPr id="22" name="Text 16"/>
          <p:cNvSpPr txBox="1"/>
          <p:nvPr/>
        </p:nvSpPr>
        <p:spPr>
          <a:xfrm>
            <a:off x="4983480" y="4014216"/>
            <a:ext cx="3703320" cy="502920"/>
          </a:xfrm>
          <a:prstGeom prst="rect">
            <a:avLst/>
          </a:prstGeom>
          <a:noFill/>
          <a:ln/>
        </p:spPr>
        <p:txBody>
          <a:bodyPr wrap="square" lIns="0" tIns="0" rIns="0" bIns="0" rtlCol="0" anchor="t"/>
          <a:lstStyle/>
          <a:p>
            <a:pPr indent="0" marL="0">
              <a:buNone/>
            </a:pPr>
            <a:r>
              <a:rPr lang="en-US" sz="1200" dirty="0">
                <a:solidFill>
                  <a:schemeClr val="tx1"/>
                </a:solidFill>
              </a:rPr>
              <a:t>Upload and retrain each need their own confirmation. A new model never replaces the deployed one automatically.</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it looks like in the demo</a:t>
            </a:r>
            <a:endParaRPr lang="en-US" sz="3000" dirty="0"/>
          </a:p>
        </p:txBody>
      </p:sp>
      <p:sp>
        <p:nvSpPr>
          <p:cNvPr id="3" name="Shape 1"/>
          <p:cNvSpPr/>
          <p:nvPr/>
        </p:nvSpPr>
        <p:spPr>
          <a:xfrm>
            <a:off x="457200" y="1188720"/>
            <a:ext cx="4023360" cy="1508760"/>
          </a:xfrm>
          <a:prstGeom prst="roundRect">
            <a:avLst>
              <a:gd name="adj" fmla="val 4848"/>
            </a:avLst>
          </a:prstGeom>
          <a:solidFill>
            <a:schemeClr val="bg2"/>
          </a:solidFill>
          <a:ln w="6350">
            <a:solidFill>
              <a:schemeClr val="bg2"/>
            </a:solidFill>
            <a:prstDash val="solid"/>
          </a:ln>
        </p:spPr>
      </p:sp>
      <p:sp>
        <p:nvSpPr>
          <p:cNvPr id="4" name="Shape 2"/>
          <p:cNvSpPr/>
          <p:nvPr/>
        </p:nvSpPr>
        <p:spPr>
          <a:xfrm>
            <a:off x="685800" y="1444752"/>
            <a:ext cx="438912" cy="438912"/>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91139" y="1550091"/>
            <a:ext cx="228234" cy="228234"/>
          </a:xfrm>
          <a:prstGeom prst="rect">
            <a:avLst/>
          </a:prstGeom>
        </p:spPr>
      </p:pic>
      <p:sp>
        <p:nvSpPr>
          <p:cNvPr id="6" name="Text 3"/>
          <p:cNvSpPr txBox="1"/>
          <p:nvPr/>
        </p:nvSpPr>
        <p:spPr>
          <a:xfrm>
            <a:off x="1280160" y="1417320"/>
            <a:ext cx="3017520" cy="502920"/>
          </a:xfrm>
          <a:prstGeom prst="rect">
            <a:avLst/>
          </a:prstGeom>
          <a:noFill/>
          <a:ln/>
        </p:spPr>
        <p:txBody>
          <a:bodyPr wrap="square" lIns="0" tIns="0" rIns="0" bIns="0" rtlCol="0" anchor="t"/>
          <a:lstStyle/>
          <a:p>
            <a:pPr indent="0" marL="0">
              <a:buNone/>
            </a:pPr>
            <a:r>
              <a:rPr lang="en-US" sz="1500" b="1" i="1" dirty="0">
                <a:solidFill>
                  <a:schemeClr val="tx2"/>
                </a:solidFill>
              </a:rPr>
              <a:t>“How much did we pay subcontractors?”</a:t>
            </a:r>
            <a:endParaRPr lang="en-US" sz="1500" dirty="0"/>
          </a:p>
        </p:txBody>
      </p:sp>
      <p:sp>
        <p:nvSpPr>
          <p:cNvPr id="7" name="Text 4"/>
          <p:cNvSpPr txBox="1"/>
          <p:nvPr/>
        </p:nvSpPr>
        <p:spPr>
          <a:xfrm>
            <a:off x="1280160" y="1938528"/>
            <a:ext cx="3017520" cy="640080"/>
          </a:xfrm>
          <a:prstGeom prst="rect">
            <a:avLst/>
          </a:prstGeom>
          <a:noFill/>
          <a:ln/>
        </p:spPr>
        <p:txBody>
          <a:bodyPr wrap="square" lIns="0" tIns="0" rIns="0" bIns="0" rtlCol="0" anchor="t"/>
          <a:lstStyle/>
          <a:p>
            <a:pPr indent="0" marL="0">
              <a:buNone/>
            </a:pPr>
            <a:r>
              <a:rPr lang="en-US" sz="1300" dirty="0">
                <a:solidFill>
                  <a:schemeClr val="tx1"/>
                </a:solidFill>
              </a:rPr>
              <a:t>$45,050.18 across 77 bills, matching the raw data exactly.</a:t>
            </a:r>
            <a:endParaRPr lang="en-US" sz="1300" dirty="0"/>
          </a:p>
        </p:txBody>
      </p:sp>
      <p:sp>
        <p:nvSpPr>
          <p:cNvPr id="8" name="Shape 5"/>
          <p:cNvSpPr/>
          <p:nvPr/>
        </p:nvSpPr>
        <p:spPr>
          <a:xfrm>
            <a:off x="4663440" y="1188720"/>
            <a:ext cx="4023360" cy="1508760"/>
          </a:xfrm>
          <a:prstGeom prst="roundRect">
            <a:avLst>
              <a:gd name="adj" fmla="val 4848"/>
            </a:avLst>
          </a:prstGeom>
          <a:solidFill>
            <a:schemeClr val="bg2"/>
          </a:solidFill>
          <a:ln w="6350">
            <a:solidFill>
              <a:schemeClr val="bg2"/>
            </a:solidFill>
            <a:prstDash val="solid"/>
          </a:ln>
        </p:spPr>
      </p:sp>
      <p:sp>
        <p:nvSpPr>
          <p:cNvPr id="9" name="Shape 6"/>
          <p:cNvSpPr/>
          <p:nvPr/>
        </p:nvSpPr>
        <p:spPr>
          <a:xfrm>
            <a:off x="4892040" y="1444752"/>
            <a:ext cx="438912" cy="438912"/>
          </a:xfrm>
          <a:prstGeom prst="ellipse">
            <a:avLst/>
          </a:prstGeom>
          <a:solidFill>
            <a:schemeClr val="accent3"/>
          </a:solidFill>
          <a:ln w="1270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4997379" y="1550091"/>
            <a:ext cx="228234" cy="228234"/>
          </a:xfrm>
          <a:prstGeom prst="rect">
            <a:avLst/>
          </a:prstGeom>
        </p:spPr>
      </p:pic>
      <p:sp>
        <p:nvSpPr>
          <p:cNvPr id="11" name="Text 7"/>
          <p:cNvSpPr txBox="1"/>
          <p:nvPr/>
        </p:nvSpPr>
        <p:spPr>
          <a:xfrm>
            <a:off x="5486400" y="1417320"/>
            <a:ext cx="3017520" cy="502920"/>
          </a:xfrm>
          <a:prstGeom prst="rect">
            <a:avLst/>
          </a:prstGeom>
          <a:noFill/>
          <a:ln/>
        </p:spPr>
        <p:txBody>
          <a:bodyPr wrap="square" lIns="0" tIns="0" rIns="0" bIns="0" rtlCol="0" anchor="t"/>
          <a:lstStyle/>
          <a:p>
            <a:pPr indent="0" marL="0">
              <a:buNone/>
            </a:pPr>
            <a:r>
              <a:rPr lang="en-US" sz="1500" b="1" i="1" dirty="0">
                <a:solidFill>
                  <a:schemeClr val="tx2"/>
                </a:solidFill>
              </a:rPr>
              <a:t>“Which vendors sell us electronics?”</a:t>
            </a:r>
            <a:endParaRPr lang="en-US" sz="1500" dirty="0"/>
          </a:p>
        </p:txBody>
      </p:sp>
      <p:sp>
        <p:nvSpPr>
          <p:cNvPr id="12" name="Text 8"/>
          <p:cNvSpPr txBox="1"/>
          <p:nvPr/>
        </p:nvSpPr>
        <p:spPr>
          <a:xfrm>
            <a:off x="5486400" y="1938528"/>
            <a:ext cx="3017520" cy="640080"/>
          </a:xfrm>
          <a:prstGeom prst="rect">
            <a:avLst/>
          </a:prstGeom>
          <a:noFill/>
          <a:ln/>
        </p:spPr>
        <p:txBody>
          <a:bodyPr wrap="square" lIns="0" tIns="0" rIns="0" bIns="0" rtlCol="0" anchor="t"/>
          <a:lstStyle/>
          <a:p>
            <a:pPr indent="0" marL="0">
              <a:buNone/>
            </a:pPr>
            <a:r>
              <a:rPr lang="en-US" sz="1300" dirty="0">
                <a:solidFill>
                  <a:schemeClr val="tx1"/>
                </a:solidFill>
              </a:rPr>
              <a:t>Finds “Lowry &amp; Sons Florals”, a florist by name billing $1.6M+ of electronics.</a:t>
            </a:r>
            <a:endParaRPr lang="en-US" sz="1300" dirty="0"/>
          </a:p>
        </p:txBody>
      </p:sp>
      <p:sp>
        <p:nvSpPr>
          <p:cNvPr id="13" name="Shape 9"/>
          <p:cNvSpPr/>
          <p:nvPr/>
        </p:nvSpPr>
        <p:spPr>
          <a:xfrm>
            <a:off x="457200" y="2880360"/>
            <a:ext cx="4023360" cy="1508760"/>
          </a:xfrm>
          <a:prstGeom prst="roundRect">
            <a:avLst>
              <a:gd name="adj" fmla="val 4848"/>
            </a:avLst>
          </a:prstGeom>
          <a:solidFill>
            <a:schemeClr val="bg2"/>
          </a:solidFill>
          <a:ln w="6350">
            <a:solidFill>
              <a:schemeClr val="bg2"/>
            </a:solidFill>
            <a:prstDash val="solid"/>
          </a:ln>
        </p:spPr>
      </p:sp>
      <p:sp>
        <p:nvSpPr>
          <p:cNvPr id="14" name="Shape 10"/>
          <p:cNvSpPr/>
          <p:nvPr/>
        </p:nvSpPr>
        <p:spPr>
          <a:xfrm>
            <a:off x="685800" y="3136392"/>
            <a:ext cx="438912" cy="438912"/>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791139" y="3241731"/>
            <a:ext cx="228234" cy="228234"/>
          </a:xfrm>
          <a:prstGeom prst="rect">
            <a:avLst/>
          </a:prstGeom>
        </p:spPr>
      </p:pic>
      <p:sp>
        <p:nvSpPr>
          <p:cNvPr id="16" name="Text 11"/>
          <p:cNvSpPr txBox="1"/>
          <p:nvPr/>
        </p:nvSpPr>
        <p:spPr>
          <a:xfrm>
            <a:off x="1280160" y="3108960"/>
            <a:ext cx="3017520" cy="502920"/>
          </a:xfrm>
          <a:prstGeom prst="rect">
            <a:avLst/>
          </a:prstGeom>
          <a:noFill/>
          <a:ln/>
        </p:spPr>
        <p:txBody>
          <a:bodyPr wrap="square" lIns="0" tIns="0" rIns="0" bIns="0" rtlCol="0" anchor="t"/>
          <a:lstStyle/>
          <a:p>
            <a:pPr indent="0" marL="0">
              <a:buNone/>
            </a:pPr>
            <a:r>
              <a:rPr lang="en-US" sz="1500" b="1" i="1" dirty="0">
                <a:solidFill>
                  <a:schemeClr val="tx2"/>
                </a:solidFill>
              </a:rPr>
              <a:t>“Graph utilities by month”</a:t>
            </a:r>
            <a:endParaRPr lang="en-US" sz="1500" dirty="0"/>
          </a:p>
        </p:txBody>
      </p:sp>
      <p:sp>
        <p:nvSpPr>
          <p:cNvPr id="17" name="Text 12"/>
          <p:cNvSpPr txBox="1"/>
          <p:nvPr/>
        </p:nvSpPr>
        <p:spPr>
          <a:xfrm>
            <a:off x="1280160" y="3630168"/>
            <a:ext cx="3017520" cy="640080"/>
          </a:xfrm>
          <a:prstGeom prst="rect">
            <a:avLst/>
          </a:prstGeom>
          <a:noFill/>
          <a:ln/>
        </p:spPr>
        <p:txBody>
          <a:bodyPr wrap="square" lIns="0" tIns="0" rIns="0" bIns="0" rtlCol="0" anchor="t"/>
          <a:lstStyle/>
          <a:p>
            <a:pPr indent="0" marL="0">
              <a:buNone/>
            </a:pPr>
            <a:r>
              <a:rPr lang="en-US" sz="1300" dirty="0">
                <a:solidFill>
                  <a:schemeClr val="tx1"/>
                </a:solidFill>
              </a:rPr>
              <a:t>The chart appears alone on the Dashboard; Refresh brings the rest back.</a:t>
            </a:r>
            <a:endParaRPr lang="en-US" sz="1300" dirty="0"/>
          </a:p>
        </p:txBody>
      </p:sp>
      <p:sp>
        <p:nvSpPr>
          <p:cNvPr id="18" name="Shape 13"/>
          <p:cNvSpPr/>
          <p:nvPr/>
        </p:nvSpPr>
        <p:spPr>
          <a:xfrm>
            <a:off x="4663440" y="2880360"/>
            <a:ext cx="4023360" cy="1508760"/>
          </a:xfrm>
          <a:prstGeom prst="roundRect">
            <a:avLst>
              <a:gd name="adj" fmla="val 4848"/>
            </a:avLst>
          </a:prstGeom>
          <a:solidFill>
            <a:schemeClr val="bg2"/>
          </a:solidFill>
          <a:ln w="6350">
            <a:solidFill>
              <a:schemeClr val="bg2"/>
            </a:solidFill>
            <a:prstDash val="solid"/>
          </a:ln>
        </p:spPr>
      </p:sp>
      <p:sp>
        <p:nvSpPr>
          <p:cNvPr id="19" name="Shape 14"/>
          <p:cNvSpPr/>
          <p:nvPr/>
        </p:nvSpPr>
        <p:spPr>
          <a:xfrm>
            <a:off x="4892040" y="3136392"/>
            <a:ext cx="438912" cy="438912"/>
          </a:xfrm>
          <a:prstGeom prst="ellipse">
            <a:avLst/>
          </a:prstGeom>
          <a:solidFill>
            <a:schemeClr val="accent3"/>
          </a:solidFill>
          <a:ln w="12700">
            <a:solidFill>
              <a:schemeClr val="accent3"/>
            </a:solidFill>
            <a:prstDash val="solid"/>
          </a:ln>
        </p:spPr>
      </p:sp>
      <p:pic>
        <p:nvPicPr>
          <p:cNvPr id="20" name="Image 3" descr="preencoded.png">    </p:cNvPr>
          <p:cNvPicPr>
            <a:picLocks noChangeAspect="1"/>
          </p:cNvPicPr>
          <p:nvPr/>
        </p:nvPicPr>
        <p:blipFill>
          <a:blip r:embed="rId4"/>
          <a:stretch>
            <a:fillRect/>
          </a:stretch>
        </p:blipFill>
        <p:spPr>
          <a:xfrm>
            <a:off x="4997379" y="3241731"/>
            <a:ext cx="228234" cy="228234"/>
          </a:xfrm>
          <a:prstGeom prst="rect">
            <a:avLst/>
          </a:prstGeom>
        </p:spPr>
      </p:pic>
      <p:sp>
        <p:nvSpPr>
          <p:cNvPr id="21" name="Text 15"/>
          <p:cNvSpPr txBox="1"/>
          <p:nvPr/>
        </p:nvSpPr>
        <p:spPr>
          <a:xfrm>
            <a:off x="5486400" y="3108960"/>
            <a:ext cx="3017520" cy="502920"/>
          </a:xfrm>
          <a:prstGeom prst="rect">
            <a:avLst/>
          </a:prstGeom>
          <a:noFill/>
          <a:ln/>
        </p:spPr>
        <p:txBody>
          <a:bodyPr wrap="square" lIns="0" tIns="0" rIns="0" bIns="0" rtlCol="0" anchor="t"/>
          <a:lstStyle/>
          <a:p>
            <a:pPr indent="0" marL="0">
              <a:buNone/>
            </a:pPr>
            <a:r>
              <a:rPr lang="en-US" sz="1500" b="1" i="1" dirty="0">
                <a:solidFill>
                  <a:schemeClr val="tx2"/>
                </a:solidFill>
              </a:rPr>
              <a:t>“What’s on my plate?”</a:t>
            </a:r>
            <a:endParaRPr lang="en-US" sz="1500" dirty="0"/>
          </a:p>
        </p:txBody>
      </p:sp>
      <p:sp>
        <p:nvSpPr>
          <p:cNvPr id="22" name="Text 16"/>
          <p:cNvSpPr txBox="1"/>
          <p:nvPr/>
        </p:nvSpPr>
        <p:spPr>
          <a:xfrm>
            <a:off x="5486400" y="3630168"/>
            <a:ext cx="3017520" cy="640080"/>
          </a:xfrm>
          <a:prstGeom prst="rect">
            <a:avLst/>
          </a:prstGeom>
          <a:noFill/>
          <a:ln/>
        </p:spPr>
        <p:txBody>
          <a:bodyPr wrap="square" lIns="0" tIns="0" rIns="0" bIns="0" rtlCol="0" anchor="t"/>
          <a:lstStyle/>
          <a:p>
            <a:pPr indent="0" marL="0">
              <a:buNone/>
            </a:pPr>
            <a:r>
              <a:rPr lang="en-US" sz="1300" dirty="0">
                <a:solidFill>
                  <a:schemeClr val="tx1"/>
                </a:solidFill>
              </a:rPr>
              <a:t>Your open tasks, assigned bills, unread messages and approvals.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Jev is the most accurate on 370 labelled cases</a:t>
            </a:r>
            <a:endParaRPr lang="en-US" sz="3000" dirty="0"/>
          </a:p>
        </p:txBody>
      </p:sp>
      <p:graphicFrame>
        <p:nvGraphicFramePr>
          <p:cNvPr id="3" name="Chart 0" descr=""/>
          <p:cNvGraphicFramePr/>
          <p:nvPr/>
        </p:nvGraphicFramePr>
        <p:xfrm>
          <a:off x="36576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715000" y="1234440"/>
            <a:ext cx="2971800" cy="960120"/>
          </a:xfrm>
          <a:prstGeom prst="roundRect">
            <a:avLst>
              <a:gd name="adj" fmla="val 7619"/>
            </a:avLst>
          </a:prstGeom>
          <a:solidFill>
            <a:schemeClr val="bg2"/>
          </a:solidFill>
          <a:ln w="6350">
            <a:solidFill>
              <a:schemeClr val="bg2"/>
            </a:solidFill>
            <a:prstDash val="solid"/>
          </a:ln>
        </p:spPr>
      </p:sp>
      <p:sp>
        <p:nvSpPr>
          <p:cNvPr id="5" name="Text 2"/>
          <p:cNvSpPr txBox="1"/>
          <p:nvPr/>
        </p:nvSpPr>
        <p:spPr>
          <a:xfrm>
            <a:off x="5897880" y="1353312"/>
            <a:ext cx="2651760" cy="320040"/>
          </a:xfrm>
          <a:prstGeom prst="rect">
            <a:avLst/>
          </a:prstGeom>
          <a:noFill/>
          <a:ln/>
        </p:spPr>
        <p:txBody>
          <a:bodyPr wrap="square" lIns="0" tIns="0" rIns="0" bIns="0" rtlCol="0" anchor="t"/>
          <a:lstStyle/>
          <a:p>
            <a:pPr indent="0" marL="0">
              <a:buNone/>
            </a:pPr>
            <a:r>
              <a:rPr lang="en-US" sz="1500" b="1" dirty="0">
                <a:solidFill>
                  <a:schemeClr val="tx2"/>
                </a:solidFill>
              </a:rPr>
              <a:t>Same test for every model</a:t>
            </a:r>
            <a:endParaRPr lang="en-US" sz="1500" dirty="0"/>
          </a:p>
        </p:txBody>
      </p:sp>
      <p:sp>
        <p:nvSpPr>
          <p:cNvPr id="6" name="Text 3"/>
          <p:cNvSpPr txBox="1"/>
          <p:nvPr/>
        </p:nvSpPr>
        <p:spPr>
          <a:xfrm>
            <a:off x="5897880" y="1673352"/>
            <a:ext cx="2651760" cy="457200"/>
          </a:xfrm>
          <a:prstGeom prst="rect">
            <a:avLst/>
          </a:prstGeom>
          <a:noFill/>
          <a:ln/>
        </p:spPr>
        <p:txBody>
          <a:bodyPr wrap="square" lIns="0" tIns="0" rIns="0" bIns="0" rtlCol="0" anchor="t"/>
          <a:lstStyle/>
          <a:p>
            <a:pPr indent="0" marL="0">
              <a:buNone/>
            </a:pPr>
            <a:r>
              <a:rPr lang="en-US" sz="1200" dirty="0">
                <a:solidFill>
                  <a:schemeClr val="tx1"/>
                </a:solidFill>
              </a:rPr>
              <a:t>Same bills, same instructions, same three answer options.</a:t>
            </a:r>
            <a:endParaRPr lang="en-US" sz="1200" dirty="0"/>
          </a:p>
        </p:txBody>
      </p:sp>
      <p:sp>
        <p:nvSpPr>
          <p:cNvPr id="7" name="Shape 4"/>
          <p:cNvSpPr/>
          <p:nvPr/>
        </p:nvSpPr>
        <p:spPr>
          <a:xfrm>
            <a:off x="5715000" y="2331720"/>
            <a:ext cx="2971800" cy="960120"/>
          </a:xfrm>
          <a:prstGeom prst="roundRect">
            <a:avLst>
              <a:gd name="adj" fmla="val 7619"/>
            </a:avLst>
          </a:prstGeom>
          <a:solidFill>
            <a:schemeClr val="bg2"/>
          </a:solidFill>
          <a:ln w="6350">
            <a:solidFill>
              <a:schemeClr val="bg2"/>
            </a:solidFill>
            <a:prstDash val="solid"/>
          </a:ln>
        </p:spPr>
      </p:sp>
      <p:sp>
        <p:nvSpPr>
          <p:cNvPr id="8" name="Text 5"/>
          <p:cNvSpPr txBox="1"/>
          <p:nvPr/>
        </p:nvSpPr>
        <p:spPr>
          <a:xfrm>
            <a:off x="5897880" y="2450592"/>
            <a:ext cx="2651760" cy="320040"/>
          </a:xfrm>
          <a:prstGeom prst="rect">
            <a:avLst/>
          </a:prstGeom>
          <a:noFill/>
          <a:ln/>
        </p:spPr>
        <p:txBody>
          <a:bodyPr wrap="square" lIns="0" tIns="0" rIns="0" bIns="0" rtlCol="0" anchor="t"/>
          <a:lstStyle/>
          <a:p>
            <a:pPr indent="0" marL="0">
              <a:buNone/>
            </a:pPr>
            <a:r>
              <a:rPr lang="en-US" sz="1500" b="1" dirty="0">
                <a:solidFill>
                  <a:schemeClr val="tx2"/>
                </a:solidFill>
              </a:rPr>
              <a:t>150 + 220 cases</a:t>
            </a:r>
            <a:endParaRPr lang="en-US" sz="1500" dirty="0"/>
          </a:p>
        </p:txBody>
      </p:sp>
      <p:sp>
        <p:nvSpPr>
          <p:cNvPr id="9" name="Text 6"/>
          <p:cNvSpPr txBox="1"/>
          <p:nvPr/>
        </p:nvSpPr>
        <p:spPr>
          <a:xfrm>
            <a:off x="5897880" y="2770632"/>
            <a:ext cx="2651760" cy="457200"/>
          </a:xfrm>
          <a:prstGeom prst="rect">
            <a:avLst/>
          </a:prstGeom>
          <a:noFill/>
          <a:ln/>
        </p:spPr>
        <p:txBody>
          <a:bodyPr wrap="square" lIns="0" tIns="0" rIns="0" bIns="0" rtlCol="0" anchor="t"/>
          <a:lstStyle/>
          <a:p>
            <a:pPr indent="0" marL="0">
              <a:buNone/>
            </a:pPr>
            <a:r>
              <a:rPr lang="en-US" sz="1200" dirty="0">
                <a:solidFill>
                  <a:schemeClr val="tx1"/>
                </a:solidFill>
              </a:rPr>
              <a:t>Hand-labelled demo cases plus held-out synthetic cases no model trained on.</a:t>
            </a:r>
            <a:endParaRPr lang="en-US" sz="1200" dirty="0"/>
          </a:p>
        </p:txBody>
      </p:sp>
      <p:sp>
        <p:nvSpPr>
          <p:cNvPr id="10" name="Shape 7"/>
          <p:cNvSpPr/>
          <p:nvPr/>
        </p:nvSpPr>
        <p:spPr>
          <a:xfrm>
            <a:off x="5715000" y="3429000"/>
            <a:ext cx="2971800" cy="960120"/>
          </a:xfrm>
          <a:prstGeom prst="roundRect">
            <a:avLst>
              <a:gd name="adj" fmla="val 7619"/>
            </a:avLst>
          </a:prstGeom>
          <a:solidFill>
            <a:schemeClr val="bg2"/>
          </a:solidFill>
          <a:ln w="6350">
            <a:solidFill>
              <a:schemeClr val="bg2"/>
            </a:solidFill>
            <a:prstDash val="solid"/>
          </a:ln>
        </p:spPr>
      </p:sp>
      <p:sp>
        <p:nvSpPr>
          <p:cNvPr id="11" name="Text 8"/>
          <p:cNvSpPr txBox="1"/>
          <p:nvPr/>
        </p:nvSpPr>
        <p:spPr>
          <a:xfrm>
            <a:off x="5897880" y="3547872"/>
            <a:ext cx="2651760" cy="320040"/>
          </a:xfrm>
          <a:prstGeom prst="rect">
            <a:avLst/>
          </a:prstGeom>
          <a:noFill/>
          <a:ln/>
        </p:spPr>
        <p:txBody>
          <a:bodyPr wrap="square" lIns="0" tIns="0" rIns="0" bIns="0" rtlCol="0" anchor="t"/>
          <a:lstStyle/>
          <a:p>
            <a:pPr indent="0" marL="0">
              <a:buNone/>
            </a:pPr>
            <a:r>
              <a:rPr lang="en-US" sz="1500" b="1" dirty="0">
                <a:solidFill>
                  <a:schemeClr val="tx2"/>
                </a:solidFill>
              </a:rPr>
              <a:t>Fewer false alarms</a:t>
            </a:r>
            <a:endParaRPr lang="en-US" sz="1500" dirty="0"/>
          </a:p>
        </p:txBody>
      </p:sp>
      <p:sp>
        <p:nvSpPr>
          <p:cNvPr id="12" name="Text 9"/>
          <p:cNvSpPr txBox="1"/>
          <p:nvPr/>
        </p:nvSpPr>
        <p:spPr>
          <a:xfrm>
            <a:off x="5897880" y="3867912"/>
            <a:ext cx="2651760" cy="457200"/>
          </a:xfrm>
          <a:prstGeom prst="rect">
            <a:avLst/>
          </a:prstGeom>
          <a:noFill/>
          <a:ln/>
        </p:spPr>
        <p:txBody>
          <a:bodyPr wrap="square" lIns="0" tIns="0" rIns="0" bIns="0" rtlCol="0" anchor="t"/>
          <a:lstStyle/>
          <a:p>
            <a:pPr indent="0" marL="0">
              <a:buNone/>
            </a:pPr>
            <a:r>
              <a:rPr lang="en-US" sz="1200" dirty="0">
                <a:solidFill>
                  <a:schemeClr val="tx1"/>
                </a:solidFill>
              </a:rPr>
              <a:t>Wrongly flagged bills: Jev 13 · Gemini 13 · Qwen 1.7B 79.</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Fast and cheap enough to check everything</a:t>
            </a:r>
            <a:endParaRPr lang="en-US" sz="3000" dirty="0"/>
          </a:p>
        </p:txBody>
      </p:sp>
      <p:sp>
        <p:nvSpPr>
          <p:cNvPr id="3" name="Shape 1"/>
          <p:cNvSpPr/>
          <p:nvPr/>
        </p:nvSpPr>
        <p:spPr>
          <a:xfrm>
            <a:off x="457200" y="1188720"/>
            <a:ext cx="4023360" cy="1463040"/>
          </a:xfrm>
          <a:prstGeom prst="roundRect">
            <a:avLst>
              <a:gd name="adj" fmla="val 5000"/>
            </a:avLst>
          </a:prstGeom>
          <a:solidFill>
            <a:schemeClr val="tx2"/>
          </a:solidFill>
          <a:ln w="6350">
            <a:solidFill>
              <a:schemeClr val="tx2"/>
            </a:solidFill>
            <a:prstDash val="solid"/>
          </a:ln>
        </p:spPr>
      </p:sp>
      <p:sp>
        <p:nvSpPr>
          <p:cNvPr id="4" name="Text 2"/>
          <p:cNvSpPr txBox="1"/>
          <p:nvPr/>
        </p:nvSpPr>
        <p:spPr>
          <a:xfrm>
            <a:off x="731520" y="1371600"/>
            <a:ext cx="1737360" cy="1005840"/>
          </a:xfrm>
          <a:prstGeom prst="rect">
            <a:avLst/>
          </a:prstGeom>
          <a:noFill/>
          <a:ln/>
        </p:spPr>
        <p:txBody>
          <a:bodyPr wrap="square" lIns="0" tIns="0" rIns="0" bIns="0" rtlCol="0" anchor="ctr"/>
          <a:lstStyle/>
          <a:p>
            <a:pPr indent="0" marL="0">
              <a:buNone/>
            </a:pPr>
            <a:r>
              <a:rPr lang="en-US" sz="4000" b="1" dirty="0">
                <a:solidFill>
                  <a:schemeClr val="accent2"/>
                </a:solidFill>
              </a:rPr>
              <a:t>0.6 s</a:t>
            </a:r>
            <a:endParaRPr lang="en-US" sz="4000" dirty="0"/>
          </a:p>
        </p:txBody>
      </p:sp>
      <p:sp>
        <p:nvSpPr>
          <p:cNvPr id="5" name="Text 3"/>
          <p:cNvSpPr txBox="1"/>
          <p:nvPr/>
        </p:nvSpPr>
        <p:spPr>
          <a:xfrm>
            <a:off x="2468880" y="1481328"/>
            <a:ext cx="1828800" cy="548640"/>
          </a:xfrm>
          <a:prstGeom prst="rect">
            <a:avLst/>
          </a:prstGeom>
          <a:noFill/>
          <a:ln/>
        </p:spPr>
        <p:txBody>
          <a:bodyPr wrap="square" lIns="0" tIns="0" rIns="0" bIns="0" rtlCol="0" anchor="t"/>
          <a:lstStyle/>
          <a:p>
            <a:pPr indent="0" marL="0">
              <a:buNone/>
            </a:pPr>
            <a:r>
              <a:rPr lang="en-US" sz="1400" b="1" dirty="0">
                <a:solidFill>
                  <a:schemeClr val="bg1"/>
                </a:solidFill>
              </a:rPr>
              <a:t>Jev per batch of 20 bills</a:t>
            </a:r>
            <a:endParaRPr lang="en-US" sz="1400" dirty="0"/>
          </a:p>
        </p:txBody>
      </p:sp>
      <p:sp>
        <p:nvSpPr>
          <p:cNvPr id="6" name="Text 4"/>
          <p:cNvSpPr txBox="1"/>
          <p:nvPr/>
        </p:nvSpPr>
        <p:spPr>
          <a:xfrm>
            <a:off x="2468880" y="2057400"/>
            <a:ext cx="1828800" cy="411480"/>
          </a:xfrm>
          <a:prstGeom prst="rect">
            <a:avLst/>
          </a:prstGeom>
          <a:noFill/>
          <a:ln/>
        </p:spPr>
        <p:txBody>
          <a:bodyPr wrap="square" lIns="0" tIns="0" rIns="0" bIns="0" rtlCol="0" anchor="t"/>
          <a:lstStyle/>
          <a:p>
            <a:pPr indent="0" marL="0">
              <a:buNone/>
            </a:pPr>
            <a:r>
              <a:rPr lang="en-US" sz="1200" dirty="0">
                <a:solidFill>
                  <a:schemeClr val="bg2"/>
                </a:solidFill>
              </a:rPr>
              <a:t>Gemini Flash-Lite: 5.8 s</a:t>
            </a:r>
            <a:endParaRPr lang="en-US" sz="1200" dirty="0"/>
          </a:p>
        </p:txBody>
      </p:sp>
      <p:sp>
        <p:nvSpPr>
          <p:cNvPr id="7" name="Shape 5"/>
          <p:cNvSpPr/>
          <p:nvPr/>
        </p:nvSpPr>
        <p:spPr>
          <a:xfrm>
            <a:off x="4663440" y="1188720"/>
            <a:ext cx="4023360" cy="1463040"/>
          </a:xfrm>
          <a:prstGeom prst="roundRect">
            <a:avLst>
              <a:gd name="adj" fmla="val 5000"/>
            </a:avLst>
          </a:prstGeom>
          <a:solidFill>
            <a:schemeClr val="bg2"/>
          </a:solidFill>
          <a:ln w="6350">
            <a:solidFill>
              <a:schemeClr val="bg2"/>
            </a:solidFill>
            <a:prstDash val="solid"/>
          </a:ln>
        </p:spPr>
      </p:sp>
      <p:sp>
        <p:nvSpPr>
          <p:cNvPr id="8" name="Text 6"/>
          <p:cNvSpPr txBox="1"/>
          <p:nvPr/>
        </p:nvSpPr>
        <p:spPr>
          <a:xfrm>
            <a:off x="4937760" y="1371600"/>
            <a:ext cx="1737360" cy="1005840"/>
          </a:xfrm>
          <a:prstGeom prst="rect">
            <a:avLst/>
          </a:prstGeom>
          <a:noFill/>
          <a:ln/>
        </p:spPr>
        <p:txBody>
          <a:bodyPr wrap="square" lIns="0" tIns="0" rIns="0" bIns="0" rtlCol="0" anchor="ctr"/>
          <a:lstStyle/>
          <a:p>
            <a:pPr indent="0" marL="0">
              <a:buNone/>
            </a:pPr>
            <a:r>
              <a:rPr lang="en-US" sz="4000" b="1" dirty="0">
                <a:solidFill>
                  <a:schemeClr val="accent1"/>
                </a:solidFill>
              </a:rPr>
              <a:t>7.1 s</a:t>
            </a:r>
            <a:endParaRPr lang="en-US" sz="4000" dirty="0"/>
          </a:p>
        </p:txBody>
      </p:sp>
      <p:sp>
        <p:nvSpPr>
          <p:cNvPr id="9" name="Text 7"/>
          <p:cNvSpPr txBox="1"/>
          <p:nvPr/>
        </p:nvSpPr>
        <p:spPr>
          <a:xfrm>
            <a:off x="6675120" y="1481328"/>
            <a:ext cx="1828800" cy="548640"/>
          </a:xfrm>
          <a:prstGeom prst="rect">
            <a:avLst/>
          </a:prstGeom>
          <a:noFill/>
          <a:ln/>
        </p:spPr>
        <p:txBody>
          <a:bodyPr wrap="square" lIns="0" tIns="0" rIns="0" bIns="0" rtlCol="0" anchor="t"/>
          <a:lstStyle/>
          <a:p>
            <a:pPr indent="0" marL="0">
              <a:buNone/>
            </a:pPr>
            <a:r>
              <a:rPr lang="en-US" sz="1400" b="1" dirty="0">
                <a:solidFill>
                  <a:schemeClr val="tx2"/>
                </a:solidFill>
              </a:rPr>
              <a:t>Jev for all 416 bills of a company</a:t>
            </a:r>
            <a:endParaRPr lang="en-US" sz="1400" dirty="0"/>
          </a:p>
        </p:txBody>
      </p:sp>
      <p:sp>
        <p:nvSpPr>
          <p:cNvPr id="10" name="Text 8"/>
          <p:cNvSpPr txBox="1"/>
          <p:nvPr/>
        </p:nvSpPr>
        <p:spPr>
          <a:xfrm>
            <a:off x="6675120" y="2057400"/>
            <a:ext cx="1828800" cy="411480"/>
          </a:xfrm>
          <a:prstGeom prst="rect">
            <a:avLst/>
          </a:prstGeom>
          <a:noFill/>
          <a:ln/>
        </p:spPr>
        <p:txBody>
          <a:bodyPr wrap="square" lIns="0" tIns="0" rIns="0" bIns="0" rtlCol="0" anchor="t"/>
          <a:lstStyle/>
          <a:p>
            <a:pPr indent="0" marL="0">
              <a:buNone/>
            </a:pPr>
            <a:r>
              <a:rPr lang="en-US" sz="1200" dirty="0">
                <a:solidFill>
                  <a:schemeClr val="accent5"/>
                </a:solidFill>
              </a:rPr>
              <a:t>Team’s Qwen 1.7B: 18.3 s</a:t>
            </a:r>
            <a:endParaRPr lang="en-US" sz="1200" dirty="0"/>
          </a:p>
        </p:txBody>
      </p:sp>
      <p:sp>
        <p:nvSpPr>
          <p:cNvPr id="11" name="Shape 9"/>
          <p:cNvSpPr/>
          <p:nvPr/>
        </p:nvSpPr>
        <p:spPr>
          <a:xfrm>
            <a:off x="457200" y="2834640"/>
            <a:ext cx="4023360" cy="1463040"/>
          </a:xfrm>
          <a:prstGeom prst="roundRect">
            <a:avLst>
              <a:gd name="adj" fmla="val 5000"/>
            </a:avLst>
          </a:prstGeom>
          <a:solidFill>
            <a:schemeClr val="bg2"/>
          </a:solidFill>
          <a:ln w="6350">
            <a:solidFill>
              <a:schemeClr val="bg2"/>
            </a:solidFill>
            <a:prstDash val="solid"/>
          </a:ln>
        </p:spPr>
      </p:sp>
      <p:sp>
        <p:nvSpPr>
          <p:cNvPr id="12" name="Text 10"/>
          <p:cNvSpPr txBox="1"/>
          <p:nvPr/>
        </p:nvSpPr>
        <p:spPr>
          <a:xfrm>
            <a:off x="731520" y="3017520"/>
            <a:ext cx="1737360" cy="1005840"/>
          </a:xfrm>
          <a:prstGeom prst="rect">
            <a:avLst/>
          </a:prstGeom>
          <a:noFill/>
          <a:ln/>
        </p:spPr>
        <p:txBody>
          <a:bodyPr wrap="square" lIns="0" tIns="0" rIns="0" bIns="0" rtlCol="0" anchor="ctr"/>
          <a:lstStyle/>
          <a:p>
            <a:pPr indent="0" marL="0">
              <a:buNone/>
            </a:pPr>
            <a:r>
              <a:rPr lang="en-US" sz="4000" b="1" dirty="0">
                <a:solidFill>
                  <a:schemeClr val="accent1"/>
                </a:solidFill>
              </a:rPr>
              <a:t>$0.007</a:t>
            </a:r>
            <a:endParaRPr lang="en-US" sz="4000" dirty="0"/>
          </a:p>
        </p:txBody>
      </p:sp>
      <p:sp>
        <p:nvSpPr>
          <p:cNvPr id="13" name="Text 11"/>
          <p:cNvSpPr txBox="1"/>
          <p:nvPr/>
        </p:nvSpPr>
        <p:spPr>
          <a:xfrm>
            <a:off x="2468880" y="3127248"/>
            <a:ext cx="1828800" cy="548640"/>
          </a:xfrm>
          <a:prstGeom prst="rect">
            <a:avLst/>
          </a:prstGeom>
          <a:noFill/>
          <a:ln/>
        </p:spPr>
        <p:txBody>
          <a:bodyPr wrap="square" lIns="0" tIns="0" rIns="0" bIns="0" rtlCol="0" anchor="t"/>
          <a:lstStyle/>
          <a:p>
            <a:pPr indent="0" marL="0">
              <a:buNone/>
            </a:pPr>
            <a:r>
              <a:rPr lang="en-US" sz="1400" b="1" dirty="0">
                <a:solidFill>
                  <a:schemeClr val="tx2"/>
                </a:solidFill>
              </a:rPr>
              <a:t>Jev for all 370 test cases</a:t>
            </a:r>
            <a:endParaRPr lang="en-US" sz="1400" dirty="0"/>
          </a:p>
        </p:txBody>
      </p:sp>
      <p:sp>
        <p:nvSpPr>
          <p:cNvPr id="14" name="Text 12"/>
          <p:cNvSpPr txBox="1"/>
          <p:nvPr/>
        </p:nvSpPr>
        <p:spPr>
          <a:xfrm>
            <a:off x="2468880" y="3703320"/>
            <a:ext cx="1828800" cy="411480"/>
          </a:xfrm>
          <a:prstGeom prst="rect">
            <a:avLst/>
          </a:prstGeom>
          <a:noFill/>
          <a:ln/>
        </p:spPr>
        <p:txBody>
          <a:bodyPr wrap="square" lIns="0" tIns="0" rIns="0" bIns="0" rtlCol="0" anchor="t"/>
          <a:lstStyle/>
          <a:p>
            <a:pPr indent="0" marL="0">
              <a:buNone/>
            </a:pPr>
            <a:r>
              <a:rPr lang="en-US" sz="1200" dirty="0">
                <a:solidFill>
                  <a:schemeClr val="accent5"/>
                </a:solidFill>
              </a:rPr>
              <a:t>On the AI Gateway key</a:t>
            </a:r>
            <a:endParaRPr lang="en-US" sz="1200" dirty="0"/>
          </a:p>
        </p:txBody>
      </p:sp>
      <p:sp>
        <p:nvSpPr>
          <p:cNvPr id="15" name="Shape 13"/>
          <p:cNvSpPr/>
          <p:nvPr/>
        </p:nvSpPr>
        <p:spPr>
          <a:xfrm>
            <a:off x="4663440" y="2834640"/>
            <a:ext cx="4023360" cy="1463040"/>
          </a:xfrm>
          <a:prstGeom prst="roundRect">
            <a:avLst>
              <a:gd name="adj" fmla="val 5000"/>
            </a:avLst>
          </a:prstGeom>
          <a:solidFill>
            <a:schemeClr val="bg2"/>
          </a:solidFill>
          <a:ln w="6350">
            <a:solidFill>
              <a:schemeClr val="bg2"/>
            </a:solidFill>
            <a:prstDash val="solid"/>
          </a:ln>
        </p:spPr>
      </p:sp>
      <p:sp>
        <p:nvSpPr>
          <p:cNvPr id="16" name="Text 14"/>
          <p:cNvSpPr txBox="1"/>
          <p:nvPr/>
        </p:nvSpPr>
        <p:spPr>
          <a:xfrm>
            <a:off x="4937760" y="3017520"/>
            <a:ext cx="1737360" cy="1005840"/>
          </a:xfrm>
          <a:prstGeom prst="rect">
            <a:avLst/>
          </a:prstGeom>
          <a:noFill/>
          <a:ln/>
        </p:spPr>
        <p:txBody>
          <a:bodyPr wrap="square" lIns="0" tIns="0" rIns="0" bIns="0" rtlCol="0" anchor="ctr"/>
          <a:lstStyle/>
          <a:p>
            <a:pPr indent="0" marL="0">
              <a:buNone/>
            </a:pPr>
            <a:r>
              <a:rPr lang="en-US" sz="4000" b="1" dirty="0">
                <a:solidFill>
                  <a:schemeClr val="accent1"/>
                </a:solidFill>
              </a:rPr>
              <a:t>0.041</a:t>
            </a:r>
            <a:endParaRPr lang="en-US" sz="4000" dirty="0"/>
          </a:p>
        </p:txBody>
      </p:sp>
      <p:sp>
        <p:nvSpPr>
          <p:cNvPr id="17" name="Text 15"/>
          <p:cNvSpPr txBox="1"/>
          <p:nvPr/>
        </p:nvSpPr>
        <p:spPr>
          <a:xfrm>
            <a:off x="6675120" y="3127248"/>
            <a:ext cx="1828800" cy="548640"/>
          </a:xfrm>
          <a:prstGeom prst="rect">
            <a:avLst/>
          </a:prstGeom>
          <a:noFill/>
          <a:ln/>
        </p:spPr>
        <p:txBody>
          <a:bodyPr wrap="square" lIns="0" tIns="0" rIns="0" bIns="0" rtlCol="0" anchor="t"/>
          <a:lstStyle/>
          <a:p>
            <a:pPr indent="0" marL="0">
              <a:buNone/>
            </a:pPr>
            <a:r>
              <a:rPr lang="en-US" sz="1400" b="1" dirty="0">
                <a:solidFill>
                  <a:schemeClr val="tx2"/>
                </a:solidFill>
              </a:rPr>
              <a:t>Jev confidence error (Brier)</a:t>
            </a:r>
            <a:endParaRPr lang="en-US" sz="1400" dirty="0"/>
          </a:p>
        </p:txBody>
      </p:sp>
      <p:sp>
        <p:nvSpPr>
          <p:cNvPr id="18" name="Text 16"/>
          <p:cNvSpPr txBox="1"/>
          <p:nvPr/>
        </p:nvSpPr>
        <p:spPr>
          <a:xfrm>
            <a:off x="6675120" y="3703320"/>
            <a:ext cx="1828800" cy="411480"/>
          </a:xfrm>
          <a:prstGeom prst="rect">
            <a:avLst/>
          </a:prstGeom>
          <a:noFill/>
          <a:ln/>
        </p:spPr>
        <p:txBody>
          <a:bodyPr wrap="square" lIns="0" tIns="0" rIns="0" bIns="0" rtlCol="0" anchor="t"/>
          <a:lstStyle/>
          <a:p>
            <a:pPr indent="0" marL="0">
              <a:buNone/>
            </a:pPr>
            <a:r>
              <a:rPr lang="en-US" sz="1200" dirty="0">
                <a:solidFill>
                  <a:schemeClr val="accent5"/>
                </a:solidFill>
              </a:rPr>
              <a:t>Lower is better; Gemini gives none</a:t>
            </a:r>
            <a:endParaRPr lang="en-US" sz="1200" dirty="0"/>
          </a:p>
        </p:txBody>
      </p:sp>
      <p:sp>
        <p:nvSpPr>
          <p:cNvPr id="19" name="Text 17"/>
          <p:cNvSpPr txBox="1"/>
          <p:nvPr/>
        </p:nvSpPr>
        <p:spPr>
          <a:xfrm>
            <a:off x="457200" y="4526280"/>
            <a:ext cx="7589520" cy="228600"/>
          </a:xfrm>
          <a:prstGeom prst="rect">
            <a:avLst/>
          </a:prstGeom>
          <a:noFill/>
          <a:ln/>
        </p:spPr>
        <p:txBody>
          <a:bodyPr wrap="square" lIns="0" tIns="0" rIns="0" bIns="0" rtlCol="0" anchor="t"/>
          <a:lstStyle/>
          <a:p>
            <a:pPr indent="0" marL="0">
              <a:buNone/>
            </a:pPr>
            <a:r>
              <a:rPr lang="en-US" sz="1000" dirty="0">
                <a:solidFill>
                  <a:schemeClr val="accent5"/>
                </a:solidFill>
              </a:rPr>
              <a:t>Batch times from the team’s benchmark runs; Gemini timed as model response only, excluding free-tier rate limits.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Built to be trusted with money</a:t>
            </a:r>
            <a:endParaRPr lang="en-US" sz="3000" dirty="0"/>
          </a:p>
        </p:txBody>
      </p:sp>
      <p:sp>
        <p:nvSpPr>
          <p:cNvPr id="3" name="Shape 1"/>
          <p:cNvSpPr/>
          <p:nvPr/>
        </p:nvSpPr>
        <p:spPr>
          <a:xfrm>
            <a:off x="457200" y="1234440"/>
            <a:ext cx="502920" cy="50292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3291840" cy="347472"/>
          </a:xfrm>
          <a:prstGeom prst="rect">
            <a:avLst/>
          </a:prstGeom>
          <a:noFill/>
          <a:ln/>
        </p:spPr>
        <p:txBody>
          <a:bodyPr wrap="square" lIns="0" tIns="0" rIns="0" bIns="0" rtlCol="0" anchor="t"/>
          <a:lstStyle/>
          <a:p>
            <a:pPr indent="0" marL="0">
              <a:buNone/>
            </a:pPr>
            <a:r>
              <a:rPr lang="en-US" sz="1600" b="1" dirty="0">
                <a:solidFill>
                  <a:schemeClr val="tx2"/>
                </a:solidFill>
              </a:rPr>
              <a:t>No model writes a number</a:t>
            </a:r>
            <a:endParaRPr lang="en-US" sz="1600" dirty="0"/>
          </a:p>
        </p:txBody>
      </p:sp>
      <p:sp>
        <p:nvSpPr>
          <p:cNvPr id="6" name="Text 3"/>
          <p:cNvSpPr txBox="1"/>
          <p:nvPr/>
        </p:nvSpPr>
        <p:spPr>
          <a:xfrm>
            <a:off x="1143000" y="1554480"/>
            <a:ext cx="3291840" cy="457200"/>
          </a:xfrm>
          <a:prstGeom prst="rect">
            <a:avLst/>
          </a:prstGeom>
          <a:noFill/>
          <a:ln/>
        </p:spPr>
        <p:txBody>
          <a:bodyPr wrap="square" lIns="0" tIns="0" rIns="0" bIns="0" rtlCol="0" anchor="t"/>
          <a:lstStyle/>
          <a:p>
            <a:pPr indent="0" marL="0">
              <a:buNone/>
            </a:pPr>
            <a:r>
              <a:rPr lang="en-US" sz="1300" dirty="0">
                <a:solidFill>
                  <a:schemeClr val="tx1"/>
                </a:solidFill>
              </a:rPr>
              <a:t>Totals are sums of the bills listed.</a:t>
            </a:r>
            <a:endParaRPr lang="en-US" sz="1300" dirty="0"/>
          </a:p>
        </p:txBody>
      </p:sp>
      <p:sp>
        <p:nvSpPr>
          <p:cNvPr id="7" name="Shape 4"/>
          <p:cNvSpPr/>
          <p:nvPr/>
        </p:nvSpPr>
        <p:spPr>
          <a:xfrm>
            <a:off x="4663440" y="1234440"/>
            <a:ext cx="502920" cy="50292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4784141" y="1355141"/>
            <a:ext cx="261518" cy="261518"/>
          </a:xfrm>
          <a:prstGeom prst="rect">
            <a:avLst/>
          </a:prstGeom>
        </p:spPr>
      </p:pic>
      <p:sp>
        <p:nvSpPr>
          <p:cNvPr id="9" name="Text 5"/>
          <p:cNvSpPr txBox="1"/>
          <p:nvPr/>
        </p:nvSpPr>
        <p:spPr>
          <a:xfrm>
            <a:off x="5349240" y="1188720"/>
            <a:ext cx="3291840" cy="347472"/>
          </a:xfrm>
          <a:prstGeom prst="rect">
            <a:avLst/>
          </a:prstGeom>
          <a:noFill/>
          <a:ln/>
        </p:spPr>
        <p:txBody>
          <a:bodyPr wrap="square" lIns="0" tIns="0" rIns="0" bIns="0" rtlCol="0" anchor="t"/>
          <a:lstStyle/>
          <a:p>
            <a:pPr indent="0" marL="0">
              <a:buNone/>
            </a:pPr>
            <a:r>
              <a:rPr lang="en-US" sz="1600" b="1" dirty="0">
                <a:solidFill>
                  <a:schemeClr val="tx2"/>
                </a:solidFill>
              </a:rPr>
              <a:t>Unclear stays unclear</a:t>
            </a:r>
            <a:endParaRPr lang="en-US" sz="1600" dirty="0"/>
          </a:p>
        </p:txBody>
      </p:sp>
      <p:sp>
        <p:nvSpPr>
          <p:cNvPr id="10" name="Text 6"/>
          <p:cNvSpPr txBox="1"/>
          <p:nvPr/>
        </p:nvSpPr>
        <p:spPr>
          <a:xfrm>
            <a:off x="5349240" y="1554480"/>
            <a:ext cx="3291840" cy="457200"/>
          </a:xfrm>
          <a:prstGeom prst="rect">
            <a:avLst/>
          </a:prstGeom>
          <a:noFill/>
          <a:ln/>
        </p:spPr>
        <p:txBody>
          <a:bodyPr wrap="square" lIns="0" tIns="0" rIns="0" bIns="0" rtlCol="0" anchor="t"/>
          <a:lstStyle/>
          <a:p>
            <a:pPr indent="0" marL="0">
              <a:buNone/>
            </a:pPr>
            <a:r>
              <a:rPr lang="en-US" sz="1300" dirty="0">
                <a:solidFill>
                  <a:schemeClr val="tx1"/>
                </a:solidFill>
              </a:rPr>
              <a:t>Vague bills shown apart, never counted.</a:t>
            </a:r>
            <a:endParaRPr lang="en-US" sz="1300" dirty="0"/>
          </a:p>
        </p:txBody>
      </p:sp>
      <p:sp>
        <p:nvSpPr>
          <p:cNvPr id="11" name="Shape 7"/>
          <p:cNvSpPr/>
          <p:nvPr/>
        </p:nvSpPr>
        <p:spPr>
          <a:xfrm>
            <a:off x="457200" y="2331720"/>
            <a:ext cx="502920" cy="502920"/>
          </a:xfrm>
          <a:prstGeom prst="ellipse">
            <a:avLst/>
          </a:prstGeom>
          <a:solidFill>
            <a:schemeClr val="accent3"/>
          </a:solidFill>
          <a:ln w="12700">
            <a:solidFill>
              <a:schemeClr val="accent3"/>
            </a:solidFill>
            <a:prstDash val="solid"/>
          </a:ln>
        </p:spPr>
      </p:sp>
      <p:pic>
        <p:nvPicPr>
          <p:cNvPr id="12" name="Image 2" descr="preencoded.png">    </p:cNvPr>
          <p:cNvPicPr>
            <a:picLocks noChangeAspect="1"/>
          </p:cNvPicPr>
          <p:nvPr/>
        </p:nvPicPr>
        <p:blipFill>
          <a:blip r:embed="rId3"/>
          <a:stretch>
            <a:fillRect/>
          </a:stretch>
        </p:blipFill>
        <p:spPr>
          <a:xfrm>
            <a:off x="577901" y="2452421"/>
            <a:ext cx="261518" cy="261518"/>
          </a:xfrm>
          <a:prstGeom prst="rect">
            <a:avLst/>
          </a:prstGeom>
        </p:spPr>
      </p:pic>
      <p:sp>
        <p:nvSpPr>
          <p:cNvPr id="13" name="Text 8"/>
          <p:cNvSpPr txBox="1"/>
          <p:nvPr/>
        </p:nvSpPr>
        <p:spPr>
          <a:xfrm>
            <a:off x="1143000" y="2286000"/>
            <a:ext cx="3291840" cy="347472"/>
          </a:xfrm>
          <a:prstGeom prst="rect">
            <a:avLst/>
          </a:prstGeom>
          <a:noFill/>
          <a:ln/>
        </p:spPr>
        <p:txBody>
          <a:bodyPr wrap="square" lIns="0" tIns="0" rIns="0" bIns="0" rtlCol="0" anchor="t"/>
          <a:lstStyle/>
          <a:p>
            <a:pPr indent="0" marL="0">
              <a:buNone/>
            </a:pPr>
            <a:r>
              <a:rPr lang="en-US" sz="1600" b="1" dirty="0">
                <a:solidFill>
                  <a:schemeClr val="tx2"/>
                </a:solidFill>
              </a:rPr>
              <a:t>Failures are shown</a:t>
            </a:r>
            <a:endParaRPr lang="en-US" sz="1600" dirty="0"/>
          </a:p>
        </p:txBody>
      </p:sp>
      <p:sp>
        <p:nvSpPr>
          <p:cNvPr id="14" name="Text 9"/>
          <p:cNvSpPr txBox="1"/>
          <p:nvPr/>
        </p:nvSpPr>
        <p:spPr>
          <a:xfrm>
            <a:off x="1143000" y="2651760"/>
            <a:ext cx="3291840" cy="457200"/>
          </a:xfrm>
          <a:prstGeom prst="rect">
            <a:avLst/>
          </a:prstGeom>
          <a:noFill/>
          <a:ln/>
        </p:spPr>
        <p:txBody>
          <a:bodyPr wrap="square" lIns="0" tIns="0" rIns="0" bIns="0" rtlCol="0" anchor="t"/>
          <a:lstStyle/>
          <a:p>
            <a:pPr indent="0" marL="0">
              <a:buNone/>
            </a:pPr>
            <a:r>
              <a:rPr lang="en-US" sz="1300" dirty="0">
                <a:solidFill>
                  <a:schemeClr val="tx1"/>
                </a:solidFill>
              </a:rPr>
              <a:t>A failed check says so and offers Try again.</a:t>
            </a:r>
            <a:endParaRPr lang="en-US" sz="1300" dirty="0"/>
          </a:p>
        </p:txBody>
      </p:sp>
      <p:sp>
        <p:nvSpPr>
          <p:cNvPr id="15" name="Shape 10"/>
          <p:cNvSpPr/>
          <p:nvPr/>
        </p:nvSpPr>
        <p:spPr>
          <a:xfrm>
            <a:off x="4663440" y="2331720"/>
            <a:ext cx="502920" cy="502920"/>
          </a:xfrm>
          <a:prstGeom prst="ellipse">
            <a:avLst/>
          </a:prstGeom>
          <a:solidFill>
            <a:schemeClr val="accent3"/>
          </a:solidFill>
          <a:ln w="12700">
            <a:solidFill>
              <a:schemeClr val="accent3"/>
            </a:solidFill>
            <a:prstDash val="solid"/>
          </a:ln>
        </p:spPr>
      </p:sp>
      <p:pic>
        <p:nvPicPr>
          <p:cNvPr id="16" name="Image 3" descr="preencoded.png">    </p:cNvPr>
          <p:cNvPicPr>
            <a:picLocks noChangeAspect="1"/>
          </p:cNvPicPr>
          <p:nvPr/>
        </p:nvPicPr>
        <p:blipFill>
          <a:blip r:embed="rId4"/>
          <a:stretch>
            <a:fillRect/>
          </a:stretch>
        </p:blipFill>
        <p:spPr>
          <a:xfrm>
            <a:off x="4784141" y="2452421"/>
            <a:ext cx="261518" cy="261518"/>
          </a:xfrm>
          <a:prstGeom prst="rect">
            <a:avLst/>
          </a:prstGeom>
        </p:spPr>
      </p:pic>
      <p:sp>
        <p:nvSpPr>
          <p:cNvPr id="17" name="Text 11"/>
          <p:cNvSpPr txBox="1"/>
          <p:nvPr/>
        </p:nvSpPr>
        <p:spPr>
          <a:xfrm>
            <a:off x="5349240" y="2286000"/>
            <a:ext cx="3291840" cy="347472"/>
          </a:xfrm>
          <a:prstGeom prst="rect">
            <a:avLst/>
          </a:prstGeom>
          <a:noFill/>
          <a:ln/>
        </p:spPr>
        <p:txBody>
          <a:bodyPr wrap="square" lIns="0" tIns="0" rIns="0" bIns="0" rtlCol="0" anchor="t"/>
          <a:lstStyle/>
          <a:p>
            <a:pPr indent="0" marL="0">
              <a:buNone/>
            </a:pPr>
            <a:r>
              <a:rPr lang="en-US" sz="1600" b="1" dirty="0">
                <a:solidFill>
                  <a:schemeClr val="tx2"/>
                </a:solidFill>
              </a:rPr>
              <a:t>People approve changes</a:t>
            </a:r>
            <a:endParaRPr lang="en-US" sz="1600" dirty="0"/>
          </a:p>
        </p:txBody>
      </p:sp>
      <p:sp>
        <p:nvSpPr>
          <p:cNvPr id="18" name="Text 12"/>
          <p:cNvSpPr txBox="1"/>
          <p:nvPr/>
        </p:nvSpPr>
        <p:spPr>
          <a:xfrm>
            <a:off x="5349240" y="2651760"/>
            <a:ext cx="3291840" cy="457200"/>
          </a:xfrm>
          <a:prstGeom prst="rect">
            <a:avLst/>
          </a:prstGeom>
          <a:noFill/>
          <a:ln/>
        </p:spPr>
        <p:txBody>
          <a:bodyPr wrap="square" lIns="0" tIns="0" rIns="0" bIns="0" rtlCol="0" anchor="t"/>
          <a:lstStyle/>
          <a:p>
            <a:pPr indent="0" marL="0">
              <a:buNone/>
            </a:pPr>
            <a:r>
              <a:rPr lang="en-US" sz="1300" dirty="0">
                <a:solidFill>
                  <a:schemeClr val="tx1"/>
                </a:solidFill>
              </a:rPr>
              <a:t>Preview first; undo in Tasks &amp; activity.</a:t>
            </a:r>
            <a:endParaRPr lang="en-US" sz="1300" dirty="0"/>
          </a:p>
        </p:txBody>
      </p:sp>
      <p:sp>
        <p:nvSpPr>
          <p:cNvPr id="19" name="Shape 13"/>
          <p:cNvSpPr/>
          <p:nvPr/>
        </p:nvSpPr>
        <p:spPr>
          <a:xfrm>
            <a:off x="457200" y="3429000"/>
            <a:ext cx="502920" cy="502920"/>
          </a:xfrm>
          <a:prstGeom prst="ellipse">
            <a:avLst/>
          </a:prstGeom>
          <a:solidFill>
            <a:schemeClr val="tx2"/>
          </a:solidFill>
          <a:ln w="12700">
            <a:solidFill>
              <a:schemeClr val="tx2"/>
            </a:solidFill>
            <a:prstDash val="solid"/>
          </a:ln>
        </p:spPr>
      </p:sp>
      <p:pic>
        <p:nvPicPr>
          <p:cNvPr id="20" name="Image 4" descr="preencoded.png">    </p:cNvPr>
          <p:cNvPicPr>
            <a:picLocks noChangeAspect="1"/>
          </p:cNvPicPr>
          <p:nvPr/>
        </p:nvPicPr>
        <p:blipFill>
          <a:blip r:embed="rId5"/>
          <a:stretch>
            <a:fillRect/>
          </a:stretch>
        </p:blipFill>
        <p:spPr>
          <a:xfrm>
            <a:off x="577901" y="3549701"/>
            <a:ext cx="261518" cy="261518"/>
          </a:xfrm>
          <a:prstGeom prst="rect">
            <a:avLst/>
          </a:prstGeom>
        </p:spPr>
      </p:pic>
      <p:sp>
        <p:nvSpPr>
          <p:cNvPr id="21" name="Text 14"/>
          <p:cNvSpPr txBox="1"/>
          <p:nvPr/>
        </p:nvSpPr>
        <p:spPr>
          <a:xfrm>
            <a:off x="1143000" y="3383280"/>
            <a:ext cx="3291840" cy="347472"/>
          </a:xfrm>
          <a:prstGeom prst="rect">
            <a:avLst/>
          </a:prstGeom>
          <a:noFill/>
          <a:ln/>
        </p:spPr>
        <p:txBody>
          <a:bodyPr wrap="square" lIns="0" tIns="0" rIns="0" bIns="0" rtlCol="0" anchor="t"/>
          <a:lstStyle/>
          <a:p>
            <a:pPr indent="0" marL="0">
              <a:buNone/>
            </a:pPr>
            <a:r>
              <a:rPr lang="en-US" sz="1600" b="1" dirty="0">
                <a:solidFill>
                  <a:schemeClr val="tx2"/>
                </a:solidFill>
              </a:rPr>
              <a:t>Keys kept separate</a:t>
            </a:r>
            <a:endParaRPr lang="en-US" sz="1600" dirty="0"/>
          </a:p>
        </p:txBody>
      </p:sp>
      <p:sp>
        <p:nvSpPr>
          <p:cNvPr id="22" name="Text 15"/>
          <p:cNvSpPr txBox="1"/>
          <p:nvPr/>
        </p:nvSpPr>
        <p:spPr>
          <a:xfrm>
            <a:off x="1143000" y="3749040"/>
            <a:ext cx="3291840" cy="457200"/>
          </a:xfrm>
          <a:prstGeom prst="rect">
            <a:avLst/>
          </a:prstGeom>
          <a:noFill/>
          <a:ln/>
        </p:spPr>
        <p:txBody>
          <a:bodyPr wrap="square" lIns="0" tIns="0" rIns="0" bIns="0" rtlCol="0" anchor="t"/>
          <a:lstStyle/>
          <a:p>
            <a:pPr indent="0" marL="0">
              <a:buNone/>
            </a:pPr>
            <a:r>
              <a:rPr lang="en-US" sz="1300" dirty="0">
                <a:solidFill>
                  <a:schemeClr val="tx1"/>
                </a:solidFill>
              </a:rPr>
              <a:t>The AI Gateway key is Jev-only, enforced by a test.</a:t>
            </a:r>
            <a:endParaRPr lang="en-US" sz="1300" dirty="0"/>
          </a:p>
        </p:txBody>
      </p:sp>
      <p:sp>
        <p:nvSpPr>
          <p:cNvPr id="23" name="Shape 16"/>
          <p:cNvSpPr/>
          <p:nvPr/>
        </p:nvSpPr>
        <p:spPr>
          <a:xfrm>
            <a:off x="4663440" y="3429000"/>
            <a:ext cx="502920" cy="502920"/>
          </a:xfrm>
          <a:prstGeom prst="ellipse">
            <a:avLst/>
          </a:prstGeom>
          <a:solidFill>
            <a:schemeClr val="tx2"/>
          </a:solidFill>
          <a:ln w="12700">
            <a:solidFill>
              <a:schemeClr val="tx2"/>
            </a:solidFill>
            <a:prstDash val="solid"/>
          </a:ln>
        </p:spPr>
      </p:sp>
      <p:pic>
        <p:nvPicPr>
          <p:cNvPr id="24" name="Image 5" descr="preencoded.png">    </p:cNvPr>
          <p:cNvPicPr>
            <a:picLocks noChangeAspect="1"/>
          </p:cNvPicPr>
          <p:nvPr/>
        </p:nvPicPr>
        <p:blipFill>
          <a:blip r:embed="rId6"/>
          <a:stretch>
            <a:fillRect/>
          </a:stretch>
        </p:blipFill>
        <p:spPr>
          <a:xfrm>
            <a:off x="4784141" y="3549701"/>
            <a:ext cx="261518" cy="261518"/>
          </a:xfrm>
          <a:prstGeom prst="rect">
            <a:avLst/>
          </a:prstGeom>
        </p:spPr>
      </p:pic>
      <p:sp>
        <p:nvSpPr>
          <p:cNvPr id="25" name="Text 17"/>
          <p:cNvSpPr txBox="1"/>
          <p:nvPr/>
        </p:nvSpPr>
        <p:spPr>
          <a:xfrm>
            <a:off x="5349240" y="3383280"/>
            <a:ext cx="3291840" cy="347472"/>
          </a:xfrm>
          <a:prstGeom prst="rect">
            <a:avLst/>
          </a:prstGeom>
          <a:noFill/>
          <a:ln/>
        </p:spPr>
        <p:txBody>
          <a:bodyPr wrap="square" lIns="0" tIns="0" rIns="0" bIns="0" rtlCol="0" anchor="t"/>
          <a:lstStyle/>
          <a:p>
            <a:pPr indent="0" marL="0">
              <a:buNone/>
            </a:pPr>
            <a:r>
              <a:rPr lang="en-US" sz="1600" b="1" dirty="0">
                <a:solidFill>
                  <a:schemeClr val="tx2"/>
                </a:solidFill>
              </a:rPr>
              <a:t>Data disclosed</a:t>
            </a:r>
            <a:endParaRPr lang="en-US" sz="1600" dirty="0"/>
          </a:p>
        </p:txBody>
      </p:sp>
      <p:sp>
        <p:nvSpPr>
          <p:cNvPr id="26" name="Text 18"/>
          <p:cNvSpPr txBox="1"/>
          <p:nvPr/>
        </p:nvSpPr>
        <p:spPr>
          <a:xfrm>
            <a:off x="5349240" y="3749040"/>
            <a:ext cx="3291840" cy="457200"/>
          </a:xfrm>
          <a:prstGeom prst="rect">
            <a:avLst/>
          </a:prstGeom>
          <a:noFill/>
          <a:ln/>
        </p:spPr>
        <p:txBody>
          <a:bodyPr wrap="square" lIns="0" tIns="0" rIns="0" bIns="0" rtlCol="0" anchor="t"/>
          <a:lstStyle/>
          <a:p>
            <a:pPr indent="0" marL="0">
              <a:buNone/>
            </a:pPr>
            <a:r>
              <a:rPr lang="en-US" sz="1300" dirty="0">
                <a:solidFill>
                  <a:schemeClr val="tx1"/>
                </a:solidFill>
              </a:rPr>
              <a:t>Edited test bills are labelled as synthetic.</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Honest limits and what comes next</a:t>
            </a:r>
            <a:endParaRPr lang="en-US" sz="3000" dirty="0"/>
          </a:p>
        </p:txBody>
      </p:sp>
      <p:sp>
        <p:nvSpPr>
          <p:cNvPr id="3" name="Shape 1"/>
          <p:cNvSpPr/>
          <p:nvPr/>
        </p:nvSpPr>
        <p:spPr>
          <a:xfrm>
            <a:off x="457200" y="1188720"/>
            <a:ext cx="4023360" cy="3246120"/>
          </a:xfrm>
          <a:prstGeom prst="roundRect">
            <a:avLst>
              <a:gd name="adj" fmla="val 2254"/>
            </a:avLst>
          </a:prstGeom>
          <a:solidFill>
            <a:schemeClr val="bg2"/>
          </a:solidFill>
          <a:ln w="6350">
            <a:solidFill>
              <a:schemeClr val="bg2"/>
            </a:solidFill>
            <a:prstDash val="solid"/>
          </a:ln>
        </p:spPr>
      </p:sp>
      <p:sp>
        <p:nvSpPr>
          <p:cNvPr id="4" name="Shape 2"/>
          <p:cNvSpPr/>
          <p:nvPr/>
        </p:nvSpPr>
        <p:spPr>
          <a:xfrm>
            <a:off x="731520" y="1417320"/>
            <a:ext cx="502920" cy="50292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852221" y="1538021"/>
            <a:ext cx="261518" cy="261518"/>
          </a:xfrm>
          <a:prstGeom prst="rect">
            <a:avLst/>
          </a:prstGeom>
        </p:spPr>
      </p:pic>
      <p:sp>
        <p:nvSpPr>
          <p:cNvPr id="6" name="Text 3"/>
          <p:cNvSpPr txBox="1"/>
          <p:nvPr/>
        </p:nvSpPr>
        <p:spPr>
          <a:xfrm>
            <a:off x="1417320" y="1481328"/>
            <a:ext cx="2834640" cy="411480"/>
          </a:xfrm>
          <a:prstGeom prst="rect">
            <a:avLst/>
          </a:prstGeom>
          <a:noFill/>
          <a:ln/>
        </p:spPr>
        <p:txBody>
          <a:bodyPr wrap="square" lIns="0" tIns="0" rIns="0" bIns="0" rtlCol="0" anchor="t"/>
          <a:lstStyle/>
          <a:p>
            <a:pPr indent="0" marL="0">
              <a:buNone/>
            </a:pPr>
            <a:r>
              <a:rPr lang="en-US" sz="1900" b="1" dirty="0">
                <a:solidFill>
                  <a:schemeClr val="tx2"/>
                </a:solidFill>
              </a:rPr>
              <a:t>Limits today</a:t>
            </a:r>
            <a:endParaRPr lang="en-US" sz="1900" dirty="0"/>
          </a:p>
        </p:txBody>
      </p:sp>
      <p:sp>
        <p:nvSpPr>
          <p:cNvPr id="7" name="Text 4"/>
          <p:cNvSpPr txBox="1"/>
          <p:nvPr/>
        </p:nvSpPr>
        <p:spPr>
          <a:xfrm>
            <a:off x="731520" y="214884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Test answers were written by our team, not an accountant</a:t>
            </a:r>
            <a:endParaRPr lang="en-US" sz="1400" dirty="0"/>
          </a:p>
          <a:p>
            <a:pPr marL="342900" indent="-342900">
              <a:spcAft>
                <a:spcPts val="1000"/>
              </a:spcAft>
              <a:buSzPct val="100000"/>
              <a:buChar char="•"/>
            </a:pPr>
            <a:r>
              <a:rPr lang="en-US" sz="1400" dirty="0">
                <a:solidFill>
                  <a:schemeClr val="tx1"/>
                </a:solidFill>
              </a:rPr>
              <a:t>Gemini Flash not benchmarked: free-tier daily limit</a:t>
            </a:r>
            <a:endParaRPr lang="en-US" sz="1400" dirty="0"/>
          </a:p>
          <a:p>
            <a:pPr marL="342900" indent="-342900">
              <a:spcAft>
                <a:spcPts val="1000"/>
              </a:spcAft>
              <a:buSzPct val="100000"/>
              <a:buChar char="•"/>
            </a:pPr>
            <a:r>
              <a:rPr lang="en-US" sz="1400" dirty="0">
                <a:solidFill>
                  <a:schemeClr val="tx1"/>
                </a:solidFill>
              </a:rPr>
              <a:t>Synthetic data; no live QuickBooks connection yet</a:t>
            </a:r>
            <a:endParaRPr lang="en-US" sz="1400" dirty="0"/>
          </a:p>
        </p:txBody>
      </p:sp>
      <p:sp>
        <p:nvSpPr>
          <p:cNvPr id="8" name="Shape 5"/>
          <p:cNvSpPr/>
          <p:nvPr/>
        </p:nvSpPr>
        <p:spPr>
          <a:xfrm>
            <a:off x="4663440" y="1188720"/>
            <a:ext cx="4023360" cy="3246120"/>
          </a:xfrm>
          <a:prstGeom prst="roundRect">
            <a:avLst>
              <a:gd name="adj" fmla="val 2254"/>
            </a:avLst>
          </a:prstGeom>
          <a:solidFill>
            <a:schemeClr val="bg2"/>
          </a:solidFill>
          <a:ln w="6350">
            <a:solidFill>
              <a:schemeClr val="bg2"/>
            </a:solidFill>
            <a:prstDash val="solid"/>
          </a:ln>
        </p:spPr>
      </p:sp>
      <p:sp>
        <p:nvSpPr>
          <p:cNvPr id="9" name="Shape 6"/>
          <p:cNvSpPr/>
          <p:nvPr/>
        </p:nvSpPr>
        <p:spPr>
          <a:xfrm>
            <a:off x="4937760" y="141732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5058461" y="1538021"/>
            <a:ext cx="261518" cy="261518"/>
          </a:xfrm>
          <a:prstGeom prst="rect">
            <a:avLst/>
          </a:prstGeom>
        </p:spPr>
      </p:pic>
      <p:sp>
        <p:nvSpPr>
          <p:cNvPr id="11" name="Text 7"/>
          <p:cNvSpPr txBox="1"/>
          <p:nvPr/>
        </p:nvSpPr>
        <p:spPr>
          <a:xfrm>
            <a:off x="5623560" y="1481328"/>
            <a:ext cx="2834640" cy="411480"/>
          </a:xfrm>
          <a:prstGeom prst="rect">
            <a:avLst/>
          </a:prstGeom>
          <a:noFill/>
          <a:ln/>
        </p:spPr>
        <p:txBody>
          <a:bodyPr wrap="square" lIns="0" tIns="0" rIns="0" bIns="0" rtlCol="0" anchor="t"/>
          <a:lstStyle/>
          <a:p>
            <a:pPr indent="0" marL="0">
              <a:buNone/>
            </a:pPr>
            <a:r>
              <a:rPr lang="en-US" sz="1900" b="1" dirty="0">
                <a:solidFill>
                  <a:schemeClr val="tx2"/>
                </a:solidFill>
              </a:rPr>
              <a:t>Next</a:t>
            </a:r>
            <a:endParaRPr lang="en-US" sz="1900" dirty="0"/>
          </a:p>
        </p:txBody>
      </p:sp>
      <p:sp>
        <p:nvSpPr>
          <p:cNvPr id="12" name="Text 8"/>
          <p:cNvSpPr txBox="1"/>
          <p:nvPr/>
        </p:nvSpPr>
        <p:spPr>
          <a:xfrm>
            <a:off x="4937760" y="2148840"/>
            <a:ext cx="3520440" cy="21031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“Spend by what it really is” and a miscoded-bill check (prototype built)</a:t>
            </a:r>
            <a:endParaRPr lang="en-US" sz="1400" dirty="0"/>
          </a:p>
          <a:p>
            <a:pPr marL="342900" indent="-342900">
              <a:spcAft>
                <a:spcPts val="1000"/>
              </a:spcAft>
              <a:buSzPct val="100000"/>
              <a:buChar char="•"/>
            </a:pPr>
            <a:r>
              <a:rPr lang="en-US" sz="1400" dirty="0">
                <a:solidFill>
                  <a:schemeClr val="tx1"/>
                </a:solidFill>
              </a:rPr>
              <a:t>Explain chart spikes: “why did September jump?”</a:t>
            </a:r>
            <a:endParaRPr lang="en-US" sz="1400" dirty="0"/>
          </a:p>
          <a:p>
            <a:pPr marL="342900" indent="-342900">
              <a:spcAft>
                <a:spcPts val="1000"/>
              </a:spcAft>
              <a:buSzPct val="100000"/>
              <a:buChar char="•"/>
            </a:pPr>
            <a:r>
              <a:rPr lang="en-US" sz="1400" dirty="0">
                <a:solidFill>
                  <a:schemeClr val="tx1"/>
                </a:solidFill>
              </a:rPr>
              <a:t>Connect to live QuickBooks Online data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863840" cy="1005840"/>
          </a:xfrm>
          <a:prstGeom prst="rect">
            <a:avLst/>
          </a:prstGeom>
          <a:noFill/>
          <a:ln/>
        </p:spPr>
        <p:txBody>
          <a:bodyPr wrap="square" lIns="0" tIns="0" rIns="0" bIns="0" rtlCol="0" anchor="b"/>
          <a:lstStyle/>
          <a:p>
            <a:pPr algn="l" indent="0" marL="0">
              <a:buNone/>
            </a:pPr>
            <a:r>
              <a:rPr lang="en-US" sz="5400" b="1" dirty="0">
                <a:solidFill>
                  <a:schemeClr val="bg1"/>
                </a:solidFill>
              </a:rPr>
              <a:t>QuickLy</a:t>
            </a:r>
            <a:endParaRPr lang="en-US" sz="5400" dirty="0"/>
          </a:p>
        </p:txBody>
      </p:sp>
      <p:sp>
        <p:nvSpPr>
          <p:cNvPr id="3" name="Text 0"/>
          <p:cNvSpPr/>
          <p:nvPr>
            <p:ph idx="101" type="body" hasCustomPrompt="1"/>
          </p:nvPr>
        </p:nvSpPr>
        <p:spPr>
          <a:xfrm>
            <a:off x="640080" y="2514600"/>
            <a:ext cx="7863840" cy="548640"/>
          </a:xfrm>
          <a:prstGeom prst="rect">
            <a:avLst/>
          </a:prstGeom>
          <a:noFill/>
          <a:ln/>
        </p:spPr>
        <p:txBody>
          <a:bodyPr wrap="square" lIns="0" tIns="0" rIns="0" bIns="0" rtlCol="0"/>
          <a:lstStyle/>
          <a:p>
            <a:pPr indent="0" marL="0">
              <a:buNone/>
            </a:pPr>
            <a:r>
              <a:rPr lang="en-US" sz="2200" dirty="0">
                <a:solidFill>
                  <a:schemeClr val="bg2"/>
                </a:solidFill>
              </a:rPr>
              <a:t>Your books, answered. Every bill read, every number exact.</a:t>
            </a:r>
            <a:endParaRPr lang="en-US" sz="2200" dirty="0"/>
          </a:p>
        </p:txBody>
      </p:sp>
      <p:sp>
        <p:nvSpPr>
          <p:cNvPr id="4" name="Text 0"/>
          <p:cNvSpPr/>
          <p:nvPr>
            <p:ph idx="102" type="body" hasCustomPrompt="1"/>
          </p:nvPr>
        </p:nvSpPr>
        <p:spPr>
          <a:xfrm>
            <a:off x="640080" y="3977640"/>
            <a:ext cx="7863840" cy="640080"/>
          </a:xfrm>
          <a:prstGeom prst="rect">
            <a:avLst/>
          </a:prstGeom>
          <a:noFill/>
          <a:ln/>
        </p:spPr>
        <p:txBody>
          <a:bodyPr wrap="square" lIns="0" tIns="0" rIns="0" bIns="0" rtlCol="0" anchor="t"/>
          <a:lstStyle/>
          <a:p>
            <a:pPr indent="0" marL="0">
              <a:buNone/>
            </a:pPr>
            <a:r>
              <a:rPr lang="en-US" sz="1300" b="1" dirty="0">
                <a:solidFill>
                  <a:schemeClr val="accent5"/>
                </a:solidFill>
              </a:rPr>
              <a:t>Thank you</a:t>
            </a:r>
            <a:endParaRPr lang="en-US" sz="1300" dirty="0"/>
          </a:p>
          <a:p>
            <a:pPr indent="0" marL="0">
              <a:buNone/>
            </a:pPr>
            <a:r>
              <a:rPr lang="en-US" sz="1300" dirty="0">
                <a:solidFill>
                  <a:schemeClr val="accent5"/>
                </a:solidFill>
              </a:rPr>
              <a:t>github.com/waderylan/lahacks26</a:t>
            </a:r>
            <a:endParaRPr lang="en-US" sz="1300" dirty="0"/>
          </a:p>
        </p:txBody>
      </p:sp>
    </p:spTree>
  </p:cSld>
  <p:clrMapOvr>
    <a:masterClrMapping/>
  </p:clrMapOvr>
</p:sld>
</file>

<file path=ppt/theme/theme1.xml><?xml version="1.0" encoding="utf-8"?>
<a:theme xmlns:a="http://schemas.openxmlformats.org/drawingml/2006/main" name="QuickLy">
  <a:themeElements>
    <a:clrScheme name="QuickLy">
      <a:dk1>
        <a:srgbClr val="17241D"/>
      </a:dk1>
      <a:lt1>
        <a:srgbClr val="FFFFFF"/>
      </a:lt1>
      <a:dk2>
        <a:srgbClr val="0F3B2A"/>
      </a:dk2>
      <a:lt2>
        <a:srgbClr val="EEF5F0"/>
      </a:lt2>
      <a:accent1>
        <a:srgbClr val="1F7A4D"/>
      </a:accent1>
      <a:accent2>
        <a:srgbClr val="E9A93B"/>
      </a:accent2>
      <a:accent3>
        <a:srgbClr val="5B8C74"/>
      </a:accent3>
      <a:accent4>
        <a:srgbClr val="B3372F"/>
      </a:accent4>
      <a:accent5>
        <a:srgbClr val="8E9A94"/>
      </a:accent5>
      <a:accent6>
        <a:srgbClr val="2F6E9E"/>
      </a:accent6>
      <a:hlink>
        <a:srgbClr val="1F7A4D"/>
      </a:hlink>
      <a:folHlink>
        <a:srgbClr val="5B8C74"/>
      </a:folHlink>
    </a:clrScheme>
    <a:fontScheme name="QuickL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QuickLy - LA Hacks 2026</dc:title>
  <dc:subject>PptxGenJS Presentation</dc:subject>
  <dc:creator>QuickLy team</dc:creator>
  <cp:lastModifiedBy>QuickLy team</cp:lastModifiedBy>
  <cp:revision>1</cp:revision>
  <dcterms:created xsi:type="dcterms:W3CDTF">2026-10-18T16:27:08Z</dcterms:created>
  <dcterms:modified xsi:type="dcterms:W3CDTF">2026-10-18T16:27:08Z</dcterms:modified>
</cp:coreProperties>
</file>